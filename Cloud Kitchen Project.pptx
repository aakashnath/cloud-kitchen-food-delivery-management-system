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Montserrat Bol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ontserrat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86" d="100"/>
          <a:sy n="86" d="100"/>
        </p:scale>
        <p:origin x="-768" y="-3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98480" y="-3840480"/>
            <a:ext cx="9326880" cy="9326880"/>
            <a:chOff x="0" y="0"/>
            <a:chExt cx="12435840" cy="1243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35840" cy="12435840"/>
            </a:xfrm>
            <a:custGeom>
              <a:avLst/>
              <a:gdLst/>
              <a:ahLst/>
              <a:cxnLst/>
              <a:rect l="l" t="t" r="r" b="b"/>
              <a:pathLst>
                <a:path w="12435840" h="12435840">
                  <a:moveTo>
                    <a:pt x="0" y="6217920"/>
                  </a:moveTo>
                  <a:cubicBezTo>
                    <a:pt x="0" y="2783840"/>
                    <a:pt x="2783840" y="0"/>
                    <a:pt x="6217920" y="0"/>
                  </a:cubicBezTo>
                  <a:cubicBezTo>
                    <a:pt x="9652000" y="0"/>
                    <a:pt x="12435840" y="2783840"/>
                    <a:pt x="12435840" y="6217920"/>
                  </a:cubicBezTo>
                  <a:cubicBezTo>
                    <a:pt x="12435840" y="9652000"/>
                    <a:pt x="9652000" y="12435840"/>
                    <a:pt x="6217920" y="12435840"/>
                  </a:cubicBezTo>
                  <a:cubicBezTo>
                    <a:pt x="2783840" y="12435840"/>
                    <a:pt x="0" y="9652000"/>
                    <a:pt x="0" y="6217920"/>
                  </a:cubicBezTo>
                  <a:close/>
                </a:path>
              </a:pathLst>
            </a:custGeom>
            <a:solidFill>
              <a:srgbClr val="5700D8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93040" y="-1371600"/>
            <a:ext cx="6035040" cy="6035040"/>
            <a:chOff x="0" y="0"/>
            <a:chExt cx="8046720" cy="8046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46720" cy="8046720"/>
            </a:xfrm>
            <a:custGeom>
              <a:avLst/>
              <a:gdLst/>
              <a:ahLst/>
              <a:cxnLst/>
              <a:rect l="l" t="t" r="r" b="b"/>
              <a:pathLst>
                <a:path w="8046720" h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</a:path>
              </a:pathLst>
            </a:custGeom>
            <a:solidFill>
              <a:srgbClr val="C33CC6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017520" y="5760720"/>
            <a:ext cx="7680960" cy="7680960"/>
            <a:chOff x="0" y="0"/>
            <a:chExt cx="10241280" cy="102412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41280" cy="10241280"/>
            </a:xfrm>
            <a:custGeom>
              <a:avLst/>
              <a:gdLst/>
              <a:ahLst/>
              <a:cxnLst/>
              <a:rect l="l" t="t" r="r" b="b"/>
              <a:pathLst>
                <a:path w="10241280" h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22D3EE">
                <a:alpha val="78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4910" y="1523797"/>
            <a:ext cx="15773400" cy="548640"/>
            <a:chOff x="0" y="0"/>
            <a:chExt cx="210312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031200" cy="731520"/>
            </a:xfrm>
            <a:custGeom>
              <a:avLst/>
              <a:gdLst/>
              <a:ahLst/>
              <a:cxnLst/>
              <a:rect l="l" t="t" r="r" b="b"/>
              <a:pathLst>
                <a:path w="21031200" h="73152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0194" b="-5101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10312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450" dirty="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DATABASE MANAGEMENT SYSTEM  •  </a:t>
              </a:r>
              <a:r>
                <a:rPr lang="en-US" sz="2100" b="1" spc="450" dirty="0" smtClean="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CAPSTONE </a:t>
              </a:r>
              <a:r>
                <a:rPr lang="en-US" sz="2100" b="1" spc="450" dirty="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5860" y="1918659"/>
            <a:ext cx="15910560" cy="1686299"/>
            <a:chOff x="0" y="0"/>
            <a:chExt cx="21214080" cy="22483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214080" cy="1828800"/>
            </a:xfrm>
            <a:custGeom>
              <a:avLst/>
              <a:gdLst/>
              <a:ahLst/>
              <a:cxnLst/>
              <a:rect l="l" t="t" r="r" b="b"/>
              <a:pathLst>
                <a:path w="21214080" h="1828800">
                  <a:moveTo>
                    <a:pt x="0" y="0"/>
                  </a:moveTo>
                  <a:lnTo>
                    <a:pt x="21214080" y="0"/>
                  </a:lnTo>
                  <a:lnTo>
                    <a:pt x="2121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026" b="-17602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410073"/>
              <a:ext cx="21214080" cy="1838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Cloud Kitchen &amp; Food Delivery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4910" y="3289372"/>
            <a:ext cx="15910560" cy="1234440"/>
            <a:chOff x="0" y="0"/>
            <a:chExt cx="21214080" cy="16459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214080" cy="1645920"/>
            </a:xfrm>
            <a:custGeom>
              <a:avLst/>
              <a:gdLst/>
              <a:ahLst/>
              <a:cxnLst/>
              <a:rect l="l" t="t" r="r" b="b"/>
              <a:pathLst>
                <a:path w="21214080" h="1645920">
                  <a:moveTo>
                    <a:pt x="0" y="0"/>
                  </a:moveTo>
                  <a:lnTo>
                    <a:pt x="21214080" y="0"/>
                  </a:lnTo>
                  <a:lnTo>
                    <a:pt x="21214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140" b="-2011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121408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 dirty="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Management System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4440" y="5056533"/>
            <a:ext cx="13990321" cy="685800"/>
            <a:chOff x="0" y="0"/>
            <a:chExt cx="18653761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653761" cy="914400"/>
            </a:xfrm>
            <a:custGeom>
              <a:avLst/>
              <a:gdLst/>
              <a:ahLst/>
              <a:cxnLst/>
              <a:rect l="l" t="t" r="r" b="b"/>
              <a:pathLst>
                <a:path w="18653761" h="914400">
                  <a:moveTo>
                    <a:pt x="0" y="0"/>
                  </a:moveTo>
                  <a:lnTo>
                    <a:pt x="18653761" y="0"/>
                  </a:lnTo>
                  <a:lnTo>
                    <a:pt x="186537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494" b="-3474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86537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060"/>
                </a:lnSpc>
              </a:pPr>
              <a:r>
                <a:rPr lang="en-IN" sz="2550" b="1" dirty="0" smtClean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 MySQL  Relational  Database  </a:t>
              </a:r>
              <a:r>
                <a:rPr lang="en-IN" sz="2550" b="1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with </a:t>
              </a:r>
              <a:r>
                <a:rPr lang="en-IN" sz="2550" b="1" dirty="0" smtClean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an  Interactive  Analytics  Dashboard</a:t>
              </a:r>
              <a:endParaRPr lang="en-US" sz="255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4915" y="6094095"/>
            <a:ext cx="1541526" cy="595122"/>
            <a:chOff x="0" y="0"/>
            <a:chExt cx="2055368" cy="7934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55368" cy="793496"/>
            </a:xfrm>
            <a:custGeom>
              <a:avLst/>
              <a:gdLst/>
              <a:ahLst/>
              <a:cxnLst/>
              <a:rect l="l" t="t" r="r" b="b"/>
              <a:pathLst>
                <a:path w="2055368" h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658620" y="0"/>
                  </a:lnTo>
                  <a:cubicBezTo>
                    <a:pt x="1877695" y="0"/>
                    <a:pt x="2055368" y="177673"/>
                    <a:pt x="2055368" y="396748"/>
                  </a:cubicBezTo>
                  <a:cubicBezTo>
                    <a:pt x="2055368" y="615823"/>
                    <a:pt x="1877695" y="793496"/>
                    <a:pt x="1658620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34440" y="6096476"/>
            <a:ext cx="1522476" cy="583216"/>
            <a:chOff x="0" y="-9525"/>
            <a:chExt cx="2029968" cy="77762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29968" cy="768096"/>
            </a:xfrm>
            <a:custGeom>
              <a:avLst/>
              <a:gdLst/>
              <a:ahLst/>
              <a:cxnLst/>
              <a:rect l="l" t="t" r="r" b="b"/>
              <a:pathLst>
                <a:path w="2029968" h="768096">
                  <a:moveTo>
                    <a:pt x="0" y="0"/>
                  </a:moveTo>
                  <a:lnTo>
                    <a:pt x="2029968" y="0"/>
                  </a:lnTo>
                  <a:lnTo>
                    <a:pt x="202996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6" b="-14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2029968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dirty="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Python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049143" y="6094095"/>
            <a:ext cx="1383792" cy="595122"/>
            <a:chOff x="0" y="0"/>
            <a:chExt cx="1845056" cy="7934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845056" cy="793496"/>
            </a:xfrm>
            <a:custGeom>
              <a:avLst/>
              <a:gdLst/>
              <a:ahLst/>
              <a:cxnLst/>
              <a:rect l="l" t="t" r="r" b="b"/>
              <a:pathLst>
                <a:path w="1845056" h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448308" y="0"/>
                  </a:lnTo>
                  <a:cubicBezTo>
                    <a:pt x="1667383" y="0"/>
                    <a:pt x="1845056" y="177673"/>
                    <a:pt x="1845056" y="396748"/>
                  </a:cubicBezTo>
                  <a:cubicBezTo>
                    <a:pt x="1845056" y="615823"/>
                    <a:pt x="1667383" y="793496"/>
                    <a:pt x="1448308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058668" y="6103620"/>
            <a:ext cx="1364742" cy="576072"/>
            <a:chOff x="0" y="0"/>
            <a:chExt cx="1819656" cy="76809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19656" cy="768096"/>
            </a:xfrm>
            <a:custGeom>
              <a:avLst/>
              <a:gdLst/>
              <a:ahLst/>
              <a:cxnLst/>
              <a:rect l="l" t="t" r="r" b="b"/>
              <a:pathLst>
                <a:path w="1819656" h="768096">
                  <a:moveTo>
                    <a:pt x="0" y="0"/>
                  </a:moveTo>
                  <a:lnTo>
                    <a:pt x="1819656" y="0"/>
                  </a:lnTo>
                  <a:lnTo>
                    <a:pt x="181965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58" r="-41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819656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MySQL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15637" y="6094095"/>
            <a:ext cx="2014728" cy="595122"/>
            <a:chOff x="0" y="0"/>
            <a:chExt cx="2686304" cy="79349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686304" cy="793496"/>
            </a:xfrm>
            <a:custGeom>
              <a:avLst/>
              <a:gdLst/>
              <a:ahLst/>
              <a:cxnLst/>
              <a:rect l="l" t="t" r="r" b="b"/>
              <a:pathLst>
                <a:path w="2686304" h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2289556" y="0"/>
                  </a:lnTo>
                  <a:cubicBezTo>
                    <a:pt x="2508631" y="0"/>
                    <a:pt x="2686304" y="177673"/>
                    <a:pt x="2686304" y="396748"/>
                  </a:cubicBezTo>
                  <a:cubicBezTo>
                    <a:pt x="2686304" y="615823"/>
                    <a:pt x="2508631" y="793496"/>
                    <a:pt x="2289556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725162" y="6103620"/>
            <a:ext cx="1995678" cy="576072"/>
            <a:chOff x="0" y="0"/>
            <a:chExt cx="2660904" cy="7680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60904" cy="768096"/>
            </a:xfrm>
            <a:custGeom>
              <a:avLst/>
              <a:gdLst/>
              <a:ahLst/>
              <a:cxnLst/>
              <a:rect l="l" t="t" r="r" b="b"/>
              <a:pathLst>
                <a:path w="2660904" h="768096">
                  <a:moveTo>
                    <a:pt x="0" y="0"/>
                  </a:moveTo>
                  <a:lnTo>
                    <a:pt x="2660904" y="0"/>
                  </a:lnTo>
                  <a:lnTo>
                    <a:pt x="266090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01" b="-1750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2660904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Streamlit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013067" y="6094095"/>
            <a:ext cx="1541526" cy="595122"/>
            <a:chOff x="0" y="0"/>
            <a:chExt cx="2055368" cy="79349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55368" cy="793496"/>
            </a:xfrm>
            <a:custGeom>
              <a:avLst/>
              <a:gdLst/>
              <a:ahLst/>
              <a:cxnLst/>
              <a:rect l="l" t="t" r="r" b="b"/>
              <a:pathLst>
                <a:path w="2055368" h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658620" y="0"/>
                  </a:lnTo>
                  <a:cubicBezTo>
                    <a:pt x="1877695" y="0"/>
                    <a:pt x="2055368" y="177673"/>
                    <a:pt x="2055368" y="396748"/>
                  </a:cubicBezTo>
                  <a:cubicBezTo>
                    <a:pt x="2055368" y="615823"/>
                    <a:pt x="1877695" y="793496"/>
                    <a:pt x="1658620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022592" y="6103620"/>
            <a:ext cx="1522476" cy="576072"/>
            <a:chOff x="0" y="0"/>
            <a:chExt cx="2029968" cy="76809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29968" cy="768096"/>
            </a:xfrm>
            <a:custGeom>
              <a:avLst/>
              <a:gdLst/>
              <a:ahLst/>
              <a:cxnLst/>
              <a:rect l="l" t="t" r="r" b="b"/>
              <a:pathLst>
                <a:path w="2029968" h="768096">
                  <a:moveTo>
                    <a:pt x="0" y="0"/>
                  </a:moveTo>
                  <a:lnTo>
                    <a:pt x="2029968" y="0"/>
                  </a:lnTo>
                  <a:lnTo>
                    <a:pt x="202996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6" b="-14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2029968" cy="7776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Plotly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 rot="4140">
            <a:off x="1224905" y="7333297"/>
            <a:ext cx="15792460" cy="0"/>
          </a:xfrm>
          <a:prstGeom prst="line">
            <a:avLst/>
          </a:prstGeom>
          <a:ln w="9525" cap="rnd">
            <a:solidFill>
              <a:srgbClr val="2A21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1" name="Group 41"/>
          <p:cNvGrpSpPr/>
          <p:nvPr/>
        </p:nvGrpSpPr>
        <p:grpSpPr>
          <a:xfrm>
            <a:off x="1234440" y="7680960"/>
            <a:ext cx="5143500" cy="411480"/>
            <a:chOff x="0" y="0"/>
            <a:chExt cx="685800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858000" cy="548640"/>
            </a:xfrm>
            <a:custGeom>
              <a:avLst/>
              <a:gdLst/>
              <a:ahLst/>
              <a:cxnLst/>
              <a:rect l="l" t="t" r="r" b="b"/>
              <a:pathLst>
                <a:path w="6858000" h="548640">
                  <a:moveTo>
                    <a:pt x="0" y="0"/>
                  </a:moveTo>
                  <a:lnTo>
                    <a:pt x="6858000" y="0"/>
                  </a:lnTo>
                  <a:lnTo>
                    <a:pt x="685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68580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80"/>
                </a:lnSpc>
              </a:pPr>
              <a:r>
                <a:rPr lang="en-US" b="1" spc="450" dirty="0" smtClean="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PRESENTED BY</a:t>
              </a:r>
              <a:endParaRPr lang="en-US" sz="1650" b="1" spc="225" dirty="0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34440" y="8322766"/>
            <a:ext cx="5143500" cy="827386"/>
            <a:chOff x="0" y="0"/>
            <a:chExt cx="6858000" cy="110318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858000" cy="822960"/>
            </a:xfrm>
            <a:custGeom>
              <a:avLst/>
              <a:gdLst/>
              <a:ahLst/>
              <a:cxnLst/>
              <a:rect l="l" t="t" r="r" b="b"/>
              <a:pathLst>
                <a:path w="6858000" h="822960">
                  <a:moveTo>
                    <a:pt x="0" y="0"/>
                  </a:moveTo>
                  <a:lnTo>
                    <a:pt x="6858000" y="0"/>
                  </a:lnTo>
                  <a:lnTo>
                    <a:pt x="6858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9524"/>
              <a:ext cx="6858000" cy="10936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Aakash </a:t>
              </a:r>
              <a:r>
                <a:rPr lang="en-US" sz="2400" b="1" dirty="0" smtClean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Nath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1" dirty="0" err="1" smtClean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Abhijit</a:t>
              </a:r>
              <a:r>
                <a:rPr lang="en-US" sz="2400" b="1" dirty="0" smtClean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Roy </a:t>
              </a:r>
              <a:endPara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20840" y="7680960"/>
            <a:ext cx="5143500" cy="411480"/>
            <a:chOff x="0" y="0"/>
            <a:chExt cx="6858000" cy="5486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858000" cy="548640"/>
            </a:xfrm>
            <a:custGeom>
              <a:avLst/>
              <a:gdLst/>
              <a:ahLst/>
              <a:cxnLst/>
              <a:rect l="l" t="t" r="r" b="b"/>
              <a:pathLst>
                <a:path w="6858000" h="548640">
                  <a:moveTo>
                    <a:pt x="0" y="0"/>
                  </a:moveTo>
                  <a:lnTo>
                    <a:pt x="6858000" y="0"/>
                  </a:lnTo>
                  <a:lnTo>
                    <a:pt x="685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68580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80"/>
                </a:lnSpc>
              </a:pPr>
              <a:r>
                <a:rPr lang="en-US" sz="1600" b="1" spc="450" dirty="0" smtClean="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ORGANIZATION</a:t>
              </a:r>
              <a:endParaRPr lang="en-US" sz="1600" b="1" spc="225" dirty="0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20840" y="8119872"/>
            <a:ext cx="5143500" cy="909828"/>
            <a:chOff x="0" y="0"/>
            <a:chExt cx="6858000" cy="121310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858000" cy="822960"/>
            </a:xfrm>
            <a:custGeom>
              <a:avLst/>
              <a:gdLst/>
              <a:ahLst/>
              <a:cxnLst/>
              <a:rect l="l" t="t" r="r" b="b"/>
              <a:pathLst>
                <a:path w="6858000" h="822960">
                  <a:moveTo>
                    <a:pt x="0" y="0"/>
                  </a:moveTo>
                  <a:lnTo>
                    <a:pt x="6858000" y="0"/>
                  </a:lnTo>
                  <a:lnTo>
                    <a:pt x="6858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280050"/>
              <a:ext cx="6858000" cy="9330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 err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Anudip</a:t>
              </a:r>
              <a:r>
                <a:rPr lang="en-US" sz="24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400" b="1" dirty="0" smtClean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Foundation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1" dirty="0" smtClean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Centre of Excellence </a:t>
              </a:r>
              <a:endPara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207240" y="7680960"/>
            <a:ext cx="5143500" cy="411480"/>
            <a:chOff x="0" y="0"/>
            <a:chExt cx="6858000" cy="5486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858000" cy="548640"/>
            </a:xfrm>
            <a:custGeom>
              <a:avLst/>
              <a:gdLst/>
              <a:ahLst/>
              <a:cxnLst/>
              <a:rect l="l" t="t" r="r" b="b"/>
              <a:pathLst>
                <a:path w="6858000" h="548640">
                  <a:moveTo>
                    <a:pt x="0" y="0"/>
                  </a:moveTo>
                  <a:lnTo>
                    <a:pt x="6858000" y="0"/>
                  </a:lnTo>
                  <a:lnTo>
                    <a:pt x="685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68580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80"/>
                </a:lnSpc>
              </a:pPr>
              <a:r>
                <a:rPr lang="en-US" sz="1600" b="1" spc="450" dirty="0" smtClean="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GUIDE</a:t>
              </a:r>
              <a:endParaRPr lang="en-US" sz="1600" b="1" spc="225" dirty="0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2148012" y="8204831"/>
            <a:ext cx="3740126" cy="4473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79"/>
              </a:lnSpc>
            </a:pPr>
            <a:r>
              <a:rPr lang="en-US" sz="2400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Mr. </a:t>
            </a:r>
            <a:r>
              <a:rPr lang="en-US" sz="2400" b="1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Amitava</a:t>
            </a:r>
            <a:r>
              <a:rPr lang="en-US" sz="2400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Chatterjee</a:t>
            </a:r>
            <a:endParaRPr lang="en-US" sz="24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6000" y="5897880"/>
            <a:ext cx="7132320" cy="7132320"/>
            <a:chOff x="0" y="0"/>
            <a:chExt cx="9509760" cy="9509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9760" cy="9509760"/>
            </a:xfrm>
            <a:custGeom>
              <a:avLst/>
              <a:gdLst/>
              <a:ahLst/>
              <a:cxnLst/>
              <a:rect l="l" t="t" r="r" b="b"/>
              <a:pathLst>
                <a:path w="9509760" h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5700D8">
                <a:alpha val="1569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154680" y="-3154680"/>
            <a:ext cx="5486400" cy="5486400"/>
            <a:chOff x="0" y="0"/>
            <a:chExt cx="7315200" cy="731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33CC6">
                <a:alpha val="78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THIS PROJECT MATTERS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 Statement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0595" y="2390775"/>
            <a:ext cx="8042910" cy="3105150"/>
            <a:chOff x="0" y="0"/>
            <a:chExt cx="10723880" cy="4140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23880" cy="4140200"/>
            </a:xfrm>
            <a:custGeom>
              <a:avLst/>
              <a:gdLst/>
              <a:ahLst/>
              <a:cxnLst/>
              <a:rect l="l" t="t" r="r" b="b"/>
              <a:pathLst>
                <a:path w="10723880" h="4140200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10503027" y="0"/>
                  </a:lnTo>
                  <a:cubicBezTo>
                    <a:pt x="10624947" y="0"/>
                    <a:pt x="10723880" y="98806"/>
                    <a:pt x="10723880" y="220853"/>
                  </a:cubicBezTo>
                  <a:lnTo>
                    <a:pt x="10723880" y="3919347"/>
                  </a:lnTo>
                  <a:cubicBezTo>
                    <a:pt x="10723880" y="4041267"/>
                    <a:pt x="10625074" y="4140200"/>
                    <a:pt x="10503027" y="4140200"/>
                  </a:cubicBezTo>
                  <a:lnTo>
                    <a:pt x="220853" y="4140200"/>
                  </a:lnTo>
                  <a:cubicBezTo>
                    <a:pt x="98806" y="4140200"/>
                    <a:pt x="0" y="4041394"/>
                    <a:pt x="0" y="391934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4425" y="2554605"/>
            <a:ext cx="1748790" cy="1748790"/>
            <a:chOff x="0" y="0"/>
            <a:chExt cx="2331720" cy="23317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31720" cy="2331720"/>
            </a:xfrm>
            <a:custGeom>
              <a:avLst/>
              <a:gdLst/>
              <a:ahLst/>
              <a:cxnLst/>
              <a:rect l="l" t="t" r="r" b="b"/>
              <a:pathLst>
                <a:path w="2331720" h="2331720">
                  <a:moveTo>
                    <a:pt x="0" y="1165860"/>
                  </a:moveTo>
                  <a:cubicBezTo>
                    <a:pt x="0" y="521970"/>
                    <a:pt x="521970" y="0"/>
                    <a:pt x="1165860" y="0"/>
                  </a:cubicBezTo>
                  <a:cubicBezTo>
                    <a:pt x="1809750" y="0"/>
                    <a:pt x="2331720" y="521970"/>
                    <a:pt x="2331720" y="1165860"/>
                  </a:cubicBezTo>
                  <a:cubicBezTo>
                    <a:pt x="2331720" y="1809750"/>
                    <a:pt x="1809750" y="2331720"/>
                    <a:pt x="1165860" y="2331720"/>
                  </a:cubicBezTo>
                  <a:cubicBezTo>
                    <a:pt x="521970" y="2331720"/>
                    <a:pt x="0" y="1809750"/>
                    <a:pt x="0" y="11658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91602" y="2831783"/>
            <a:ext cx="1194435" cy="1194435"/>
            <a:chOff x="0" y="0"/>
            <a:chExt cx="1592580" cy="15925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85696" y="3125876"/>
            <a:ext cx="606247" cy="606247"/>
            <a:chOff x="0" y="0"/>
            <a:chExt cx="808330" cy="808330"/>
          </a:xfrm>
        </p:grpSpPr>
        <p:sp>
          <p:nvSpPr>
            <p:cNvPr id="19" name="Freeform 19" descr="/home/claude/work/icons/alert.png"/>
            <p:cNvSpPr/>
            <p:nvPr/>
          </p:nvSpPr>
          <p:spPr>
            <a:xfrm>
              <a:off x="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903220" y="2926080"/>
            <a:ext cx="557784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Falls Out of Sync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8780" y="4219575"/>
            <a:ext cx="660654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Order status and delivery status drift apart without automation.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385935" y="2390775"/>
            <a:ext cx="8042910" cy="3105150"/>
            <a:chOff x="0" y="0"/>
            <a:chExt cx="10723880" cy="4140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23880" cy="4140200"/>
            </a:xfrm>
            <a:custGeom>
              <a:avLst/>
              <a:gdLst/>
              <a:ahLst/>
              <a:cxnLst/>
              <a:rect l="l" t="t" r="r" b="b"/>
              <a:pathLst>
                <a:path w="10723880" h="4140200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10503027" y="0"/>
                  </a:lnTo>
                  <a:cubicBezTo>
                    <a:pt x="10624947" y="0"/>
                    <a:pt x="10723880" y="98806"/>
                    <a:pt x="10723880" y="220853"/>
                  </a:cubicBezTo>
                  <a:lnTo>
                    <a:pt x="10723880" y="3919347"/>
                  </a:lnTo>
                  <a:cubicBezTo>
                    <a:pt x="10723880" y="4041267"/>
                    <a:pt x="10625074" y="4140200"/>
                    <a:pt x="10503027" y="4140200"/>
                  </a:cubicBezTo>
                  <a:lnTo>
                    <a:pt x="220853" y="4140200"/>
                  </a:lnTo>
                  <a:cubicBezTo>
                    <a:pt x="98806" y="4140200"/>
                    <a:pt x="0" y="4041394"/>
                    <a:pt x="0" y="391934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49765" y="2554605"/>
            <a:ext cx="1748790" cy="1748790"/>
            <a:chOff x="0" y="0"/>
            <a:chExt cx="2331720" cy="23317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31720" cy="2331720"/>
            </a:xfrm>
            <a:custGeom>
              <a:avLst/>
              <a:gdLst/>
              <a:ahLst/>
              <a:cxnLst/>
              <a:rect l="l" t="t" r="r" b="b"/>
              <a:pathLst>
                <a:path w="2331720" h="2331720">
                  <a:moveTo>
                    <a:pt x="0" y="1165860"/>
                  </a:moveTo>
                  <a:cubicBezTo>
                    <a:pt x="0" y="521970"/>
                    <a:pt x="521970" y="0"/>
                    <a:pt x="1165860" y="0"/>
                  </a:cubicBezTo>
                  <a:cubicBezTo>
                    <a:pt x="1809750" y="0"/>
                    <a:pt x="2331720" y="521970"/>
                    <a:pt x="2331720" y="1165860"/>
                  </a:cubicBezTo>
                  <a:cubicBezTo>
                    <a:pt x="2331720" y="1809750"/>
                    <a:pt x="1809750" y="2331720"/>
                    <a:pt x="1165860" y="2331720"/>
                  </a:cubicBezTo>
                  <a:cubicBezTo>
                    <a:pt x="521970" y="2331720"/>
                    <a:pt x="0" y="1809750"/>
                    <a:pt x="0" y="11658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826943" y="2831783"/>
            <a:ext cx="1194435" cy="1194435"/>
            <a:chOff x="0" y="0"/>
            <a:chExt cx="1592580" cy="15925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121036" y="3125876"/>
            <a:ext cx="606247" cy="606247"/>
            <a:chOff x="0" y="0"/>
            <a:chExt cx="808330" cy="808330"/>
          </a:xfrm>
        </p:grpSpPr>
        <p:sp>
          <p:nvSpPr>
            <p:cNvPr id="29" name="Freeform 29" descr="/home/claude/work/icons/refresh.png"/>
            <p:cNvSpPr/>
            <p:nvPr/>
          </p:nvSpPr>
          <p:spPr>
            <a:xfrm>
              <a:off x="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338560" y="2926080"/>
            <a:ext cx="557784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Rating Recalculation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04120" y="4219575"/>
            <a:ext cx="660654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Recomputing ratings in app code risks slow, inconsistent results.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50595" y="5888355"/>
            <a:ext cx="8042910" cy="3105150"/>
            <a:chOff x="0" y="0"/>
            <a:chExt cx="10723880" cy="4140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723880" cy="4140200"/>
            </a:xfrm>
            <a:custGeom>
              <a:avLst/>
              <a:gdLst/>
              <a:ahLst/>
              <a:cxnLst/>
              <a:rect l="l" t="t" r="r" b="b"/>
              <a:pathLst>
                <a:path w="10723880" h="4140200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10503027" y="0"/>
                  </a:lnTo>
                  <a:cubicBezTo>
                    <a:pt x="10624947" y="0"/>
                    <a:pt x="10723880" y="98806"/>
                    <a:pt x="10723880" y="220853"/>
                  </a:cubicBezTo>
                  <a:lnTo>
                    <a:pt x="10723880" y="3919347"/>
                  </a:lnTo>
                  <a:cubicBezTo>
                    <a:pt x="10723880" y="4041267"/>
                    <a:pt x="10625074" y="4140200"/>
                    <a:pt x="10503027" y="4140200"/>
                  </a:cubicBezTo>
                  <a:lnTo>
                    <a:pt x="220853" y="4140200"/>
                  </a:lnTo>
                  <a:cubicBezTo>
                    <a:pt x="98806" y="4140200"/>
                    <a:pt x="0" y="4041394"/>
                    <a:pt x="0" y="391934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14425" y="6052185"/>
            <a:ext cx="1748790" cy="1748790"/>
            <a:chOff x="0" y="0"/>
            <a:chExt cx="2331720" cy="23317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331720" cy="2331720"/>
            </a:xfrm>
            <a:custGeom>
              <a:avLst/>
              <a:gdLst/>
              <a:ahLst/>
              <a:cxnLst/>
              <a:rect l="l" t="t" r="r" b="b"/>
              <a:pathLst>
                <a:path w="2331720" h="2331720">
                  <a:moveTo>
                    <a:pt x="0" y="1165860"/>
                  </a:moveTo>
                  <a:cubicBezTo>
                    <a:pt x="0" y="521970"/>
                    <a:pt x="521970" y="0"/>
                    <a:pt x="1165860" y="0"/>
                  </a:cubicBezTo>
                  <a:cubicBezTo>
                    <a:pt x="1809750" y="0"/>
                    <a:pt x="2331720" y="521970"/>
                    <a:pt x="2331720" y="1165860"/>
                  </a:cubicBezTo>
                  <a:cubicBezTo>
                    <a:pt x="2331720" y="1809750"/>
                    <a:pt x="1809750" y="2331720"/>
                    <a:pt x="1165860" y="2331720"/>
                  </a:cubicBezTo>
                  <a:cubicBezTo>
                    <a:pt x="521970" y="2331720"/>
                    <a:pt x="0" y="1809750"/>
                    <a:pt x="0" y="11658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91602" y="6329362"/>
            <a:ext cx="1194435" cy="1194435"/>
            <a:chOff x="0" y="0"/>
            <a:chExt cx="1592580" cy="15925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85696" y="6623456"/>
            <a:ext cx="606247" cy="606247"/>
            <a:chOff x="0" y="0"/>
            <a:chExt cx="808330" cy="808330"/>
          </a:xfrm>
        </p:grpSpPr>
        <p:sp>
          <p:nvSpPr>
            <p:cNvPr id="39" name="Freeform 39" descr="/home/claude/work/icons/database.png"/>
            <p:cNvSpPr/>
            <p:nvPr/>
          </p:nvSpPr>
          <p:spPr>
            <a:xfrm>
              <a:off x="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903220" y="6423660"/>
            <a:ext cx="557784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Live Operational Reports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68780" y="7717155"/>
            <a:ext cx="660654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Today's orders and pending deliveries need repeated complex joins.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385935" y="5888355"/>
            <a:ext cx="8042910" cy="3105150"/>
            <a:chOff x="0" y="0"/>
            <a:chExt cx="10723880" cy="4140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723880" cy="4140200"/>
            </a:xfrm>
            <a:custGeom>
              <a:avLst/>
              <a:gdLst/>
              <a:ahLst/>
              <a:cxnLst/>
              <a:rect l="l" t="t" r="r" b="b"/>
              <a:pathLst>
                <a:path w="10723880" h="4140200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10503027" y="0"/>
                  </a:lnTo>
                  <a:cubicBezTo>
                    <a:pt x="10624947" y="0"/>
                    <a:pt x="10723880" y="98806"/>
                    <a:pt x="10723880" y="220853"/>
                  </a:cubicBezTo>
                  <a:lnTo>
                    <a:pt x="10723880" y="3919347"/>
                  </a:lnTo>
                  <a:cubicBezTo>
                    <a:pt x="10723880" y="4041267"/>
                    <a:pt x="10625074" y="4140200"/>
                    <a:pt x="10503027" y="4140200"/>
                  </a:cubicBezTo>
                  <a:lnTo>
                    <a:pt x="220853" y="4140200"/>
                  </a:lnTo>
                  <a:cubicBezTo>
                    <a:pt x="98806" y="4140200"/>
                    <a:pt x="0" y="4041394"/>
                    <a:pt x="0" y="391934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49765" y="6052185"/>
            <a:ext cx="1748790" cy="1748790"/>
            <a:chOff x="0" y="0"/>
            <a:chExt cx="2331720" cy="23317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331720" cy="2331720"/>
            </a:xfrm>
            <a:custGeom>
              <a:avLst/>
              <a:gdLst/>
              <a:ahLst/>
              <a:cxnLst/>
              <a:rect l="l" t="t" r="r" b="b"/>
              <a:pathLst>
                <a:path w="2331720" h="2331720">
                  <a:moveTo>
                    <a:pt x="0" y="1165860"/>
                  </a:moveTo>
                  <a:cubicBezTo>
                    <a:pt x="0" y="521970"/>
                    <a:pt x="521970" y="0"/>
                    <a:pt x="1165860" y="0"/>
                  </a:cubicBezTo>
                  <a:cubicBezTo>
                    <a:pt x="1809750" y="0"/>
                    <a:pt x="2331720" y="521970"/>
                    <a:pt x="2331720" y="1165860"/>
                  </a:cubicBezTo>
                  <a:cubicBezTo>
                    <a:pt x="2331720" y="1809750"/>
                    <a:pt x="1809750" y="2331720"/>
                    <a:pt x="1165860" y="2331720"/>
                  </a:cubicBezTo>
                  <a:cubicBezTo>
                    <a:pt x="521970" y="2331720"/>
                    <a:pt x="0" y="1809750"/>
                    <a:pt x="0" y="11658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826943" y="6329362"/>
            <a:ext cx="1194435" cy="1194435"/>
            <a:chOff x="0" y="0"/>
            <a:chExt cx="1592580" cy="15925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121036" y="6623456"/>
            <a:ext cx="606247" cy="606247"/>
            <a:chOff x="0" y="0"/>
            <a:chExt cx="808330" cy="808330"/>
          </a:xfrm>
        </p:grpSpPr>
        <p:sp>
          <p:nvSpPr>
            <p:cNvPr id="49" name="Freeform 49" descr="/home/claude/work/icons/users.png"/>
            <p:cNvSpPr/>
            <p:nvPr/>
          </p:nvSpPr>
          <p:spPr>
            <a:xfrm>
              <a:off x="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338560" y="6423660"/>
            <a:ext cx="557784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Referential Integrity Risk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104120" y="7717155"/>
            <a:ext cx="660654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Eleven linked entities are hard to keep consistent without constraints.</a:t>
            </a: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8880" y="-2606040"/>
            <a:ext cx="7132320" cy="7132320"/>
            <a:chOff x="0" y="0"/>
            <a:chExt cx="9509760" cy="9509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9760" cy="9509760"/>
            </a:xfrm>
            <a:custGeom>
              <a:avLst/>
              <a:gdLst/>
              <a:ahLst/>
              <a:cxnLst/>
              <a:rect l="l" t="t" r="r" b="b"/>
              <a:pathLst>
                <a:path w="9509760" h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C33CC6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38960" y="6995160"/>
            <a:ext cx="6583680" cy="6583680"/>
            <a:chOff x="0" y="0"/>
            <a:chExt cx="8778240" cy="8778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778240" cy="8778240"/>
            </a:xfrm>
            <a:custGeom>
              <a:avLst/>
              <a:gdLst/>
              <a:ahLst/>
              <a:cxnLst/>
              <a:rect l="l" t="t" r="r" b="b"/>
              <a:pathLst>
                <a:path w="8778240" h="8778240">
                  <a:moveTo>
                    <a:pt x="0" y="4389120"/>
                  </a:moveTo>
                  <a:cubicBezTo>
                    <a:pt x="0" y="1965071"/>
                    <a:pt x="1965071" y="0"/>
                    <a:pt x="4389120" y="0"/>
                  </a:cubicBezTo>
                  <a:cubicBezTo>
                    <a:pt x="6813169" y="0"/>
                    <a:pt x="8778240" y="1965071"/>
                    <a:pt x="8778240" y="4389120"/>
                  </a:cubicBezTo>
                  <a:cubicBezTo>
                    <a:pt x="8778240" y="6813169"/>
                    <a:pt x="6813169" y="8778240"/>
                    <a:pt x="4389120" y="8778240"/>
                  </a:cubicBezTo>
                  <a:cubicBezTo>
                    <a:pt x="1965072" y="8778240"/>
                    <a:pt x="0" y="6813169"/>
                    <a:pt x="0" y="4389120"/>
                  </a:cubicBezTo>
                  <a:close/>
                </a:path>
              </a:pathLst>
            </a:custGeom>
            <a:solidFill>
              <a:srgbClr val="5700D8">
                <a:alpha val="1569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THIS PROJECT SET OUT TO ACHIEVE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Objectives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0595" y="2527935"/>
            <a:ext cx="5299710" cy="3242310"/>
            <a:chOff x="0" y="0"/>
            <a:chExt cx="7066280" cy="43230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845554" y="0"/>
                  </a:lnTo>
                  <a:cubicBezTo>
                    <a:pt x="6967474" y="0"/>
                    <a:pt x="7066280" y="98806"/>
                    <a:pt x="7066280" y="220726"/>
                  </a:cubicBezTo>
                  <a:lnTo>
                    <a:pt x="7066280" y="4102354"/>
                  </a:lnTo>
                  <a:cubicBezTo>
                    <a:pt x="7066280" y="4224274"/>
                    <a:pt x="6967474" y="4323080"/>
                    <a:pt x="6845554" y="4323080"/>
                  </a:cubicBezTo>
                  <a:lnTo>
                    <a:pt x="220726" y="4323080"/>
                  </a:lnTo>
                  <a:cubicBezTo>
                    <a:pt x="98806" y="4323080"/>
                    <a:pt x="0" y="4224274"/>
                    <a:pt x="0" y="4102354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77490" y="2880360"/>
            <a:ext cx="1645920" cy="1645920"/>
            <a:chOff x="0" y="0"/>
            <a:chExt cx="2194560" cy="21945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037522" y="3140392"/>
            <a:ext cx="1125855" cy="1125855"/>
            <a:chOff x="0" y="0"/>
            <a:chExt cx="1501140" cy="15011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01140" cy="1501140"/>
            </a:xfrm>
            <a:custGeom>
              <a:avLst/>
              <a:gdLst/>
              <a:ahLst/>
              <a:cxnLst/>
              <a:rect l="l" t="t" r="r" b="b"/>
              <a:pathLst>
                <a:path w="1501140" h="1501140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cubicBezTo>
                    <a:pt x="1165098" y="0"/>
                    <a:pt x="1501140" y="336042"/>
                    <a:pt x="1501140" y="750570"/>
                  </a:cubicBezTo>
                  <a:cubicBezTo>
                    <a:pt x="1501140" y="1165098"/>
                    <a:pt x="1165098" y="1501140"/>
                    <a:pt x="750570" y="1501140"/>
                  </a:cubicBezTo>
                  <a:cubicBezTo>
                    <a:pt x="336042" y="1501140"/>
                    <a:pt x="0" y="1165098"/>
                    <a:pt x="0" y="7505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15157" y="3418027"/>
            <a:ext cx="570586" cy="570586"/>
            <a:chOff x="0" y="0"/>
            <a:chExt cx="760781" cy="760781"/>
          </a:xfrm>
        </p:grpSpPr>
        <p:sp>
          <p:nvSpPr>
            <p:cNvPr id="19" name="Freeform 19" descr="/home/claude/work/icons/target.png"/>
            <p:cNvSpPr/>
            <p:nvPr/>
          </p:nvSpPr>
          <p:spPr>
            <a:xfrm>
              <a:off x="0" y="0"/>
              <a:ext cx="760730" cy="760730"/>
            </a:xfrm>
            <a:custGeom>
              <a:avLst/>
              <a:gdLst/>
              <a:ahLst/>
              <a:cxnLst/>
              <a:rect l="l" t="t" r="r" b="b"/>
              <a:pathLst>
                <a:path w="760730" h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6" b="-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94460" y="4572000"/>
            <a:ext cx="441198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Normalized 11-Table Schema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4460" y="5257800"/>
            <a:ext cx="441198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Design a fully relational cloud kitchen data model.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574155" y="2527935"/>
            <a:ext cx="5299710" cy="3242310"/>
            <a:chOff x="0" y="0"/>
            <a:chExt cx="7066280" cy="43230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845554" y="0"/>
                  </a:lnTo>
                  <a:cubicBezTo>
                    <a:pt x="6967474" y="0"/>
                    <a:pt x="7066280" y="98806"/>
                    <a:pt x="7066280" y="220726"/>
                  </a:cubicBezTo>
                  <a:lnTo>
                    <a:pt x="7066280" y="4102354"/>
                  </a:lnTo>
                  <a:cubicBezTo>
                    <a:pt x="7066280" y="4224274"/>
                    <a:pt x="6967474" y="4323080"/>
                    <a:pt x="6845554" y="4323080"/>
                  </a:cubicBezTo>
                  <a:lnTo>
                    <a:pt x="220726" y="4323080"/>
                  </a:lnTo>
                  <a:cubicBezTo>
                    <a:pt x="98806" y="4323080"/>
                    <a:pt x="0" y="4224274"/>
                    <a:pt x="0" y="4102354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01050" y="2880360"/>
            <a:ext cx="1645920" cy="1645920"/>
            <a:chOff x="0" y="0"/>
            <a:chExt cx="2194560" cy="21945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661082" y="3140392"/>
            <a:ext cx="1125855" cy="1125855"/>
            <a:chOff x="0" y="0"/>
            <a:chExt cx="1501140" cy="15011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01140" cy="1501140"/>
            </a:xfrm>
            <a:custGeom>
              <a:avLst/>
              <a:gdLst/>
              <a:ahLst/>
              <a:cxnLst/>
              <a:rect l="l" t="t" r="r" b="b"/>
              <a:pathLst>
                <a:path w="1501140" h="1501140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cubicBezTo>
                    <a:pt x="1165098" y="0"/>
                    <a:pt x="1501140" y="336042"/>
                    <a:pt x="1501140" y="750570"/>
                  </a:cubicBezTo>
                  <a:cubicBezTo>
                    <a:pt x="1501140" y="1165098"/>
                    <a:pt x="1165098" y="1501140"/>
                    <a:pt x="750570" y="1501140"/>
                  </a:cubicBezTo>
                  <a:cubicBezTo>
                    <a:pt x="336042" y="1501140"/>
                    <a:pt x="0" y="1165098"/>
                    <a:pt x="0" y="7505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38717" y="3418027"/>
            <a:ext cx="570586" cy="570586"/>
            <a:chOff x="0" y="0"/>
            <a:chExt cx="760781" cy="760781"/>
          </a:xfrm>
        </p:grpSpPr>
        <p:sp>
          <p:nvSpPr>
            <p:cNvPr id="29" name="Freeform 29" descr="/home/claude/work/icons/shield.png"/>
            <p:cNvSpPr/>
            <p:nvPr/>
          </p:nvSpPr>
          <p:spPr>
            <a:xfrm>
              <a:off x="0" y="0"/>
              <a:ext cx="760730" cy="760730"/>
            </a:xfrm>
            <a:custGeom>
              <a:avLst/>
              <a:gdLst/>
              <a:ahLst/>
              <a:cxnLst/>
              <a:rect l="l" t="t" r="r" b="b"/>
              <a:pathLst>
                <a:path w="760730" h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018020" y="4572000"/>
            <a:ext cx="441198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Enforce Data Integrity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18020" y="5257800"/>
            <a:ext cx="441198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Primary keys, foreign keys and CHECK constraints.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197715" y="2527935"/>
            <a:ext cx="5299710" cy="3242310"/>
            <a:chOff x="0" y="0"/>
            <a:chExt cx="7066280" cy="43230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845554" y="0"/>
                  </a:lnTo>
                  <a:cubicBezTo>
                    <a:pt x="6967474" y="0"/>
                    <a:pt x="7066280" y="98806"/>
                    <a:pt x="7066280" y="220726"/>
                  </a:cubicBezTo>
                  <a:lnTo>
                    <a:pt x="7066280" y="4102354"/>
                  </a:lnTo>
                  <a:cubicBezTo>
                    <a:pt x="7066280" y="4224274"/>
                    <a:pt x="6967474" y="4323080"/>
                    <a:pt x="6845554" y="4323080"/>
                  </a:cubicBezTo>
                  <a:lnTo>
                    <a:pt x="220726" y="4323080"/>
                  </a:lnTo>
                  <a:cubicBezTo>
                    <a:pt x="98806" y="4323080"/>
                    <a:pt x="0" y="4224274"/>
                    <a:pt x="0" y="4102354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024610" y="2880360"/>
            <a:ext cx="1645920" cy="1645920"/>
            <a:chOff x="0" y="0"/>
            <a:chExt cx="2194560" cy="21945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284643" y="3140392"/>
            <a:ext cx="1125855" cy="1125855"/>
            <a:chOff x="0" y="0"/>
            <a:chExt cx="1501140" cy="15011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01140" cy="1501140"/>
            </a:xfrm>
            <a:custGeom>
              <a:avLst/>
              <a:gdLst/>
              <a:ahLst/>
              <a:cxnLst/>
              <a:rect l="l" t="t" r="r" b="b"/>
              <a:pathLst>
                <a:path w="1501140" h="1501140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cubicBezTo>
                    <a:pt x="1165098" y="0"/>
                    <a:pt x="1501140" y="336042"/>
                    <a:pt x="1501140" y="750570"/>
                  </a:cubicBezTo>
                  <a:cubicBezTo>
                    <a:pt x="1501140" y="1165098"/>
                    <a:pt x="1165098" y="1501140"/>
                    <a:pt x="750570" y="1501140"/>
                  </a:cubicBezTo>
                  <a:cubicBezTo>
                    <a:pt x="336042" y="1501140"/>
                    <a:pt x="0" y="1165098"/>
                    <a:pt x="0" y="7505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562277" y="3418027"/>
            <a:ext cx="570586" cy="570586"/>
            <a:chOff x="0" y="0"/>
            <a:chExt cx="760781" cy="760781"/>
          </a:xfrm>
        </p:grpSpPr>
        <p:sp>
          <p:nvSpPr>
            <p:cNvPr id="39" name="Freeform 39" descr="/home/claude/work/icons/zap.png"/>
            <p:cNvSpPr/>
            <p:nvPr/>
          </p:nvSpPr>
          <p:spPr>
            <a:xfrm>
              <a:off x="0" y="0"/>
              <a:ext cx="760730" cy="760730"/>
            </a:xfrm>
            <a:custGeom>
              <a:avLst/>
              <a:gdLst/>
              <a:ahLst/>
              <a:cxnLst/>
              <a:rect l="l" t="t" r="r" b="b"/>
              <a:pathLst>
                <a:path w="760730" h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6" b="-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641580" y="4572000"/>
            <a:ext cx="441198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 Rating Updates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641580" y="5257800"/>
            <a:ext cx="441198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MySQL triggers update ratings without app logic.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50595" y="6162675"/>
            <a:ext cx="5299710" cy="3242310"/>
            <a:chOff x="0" y="0"/>
            <a:chExt cx="7066280" cy="43230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845554" y="0"/>
                  </a:lnTo>
                  <a:cubicBezTo>
                    <a:pt x="6967474" y="0"/>
                    <a:pt x="7066280" y="98806"/>
                    <a:pt x="7066280" y="220726"/>
                  </a:cubicBezTo>
                  <a:lnTo>
                    <a:pt x="7066280" y="4102354"/>
                  </a:lnTo>
                  <a:cubicBezTo>
                    <a:pt x="7066280" y="4224274"/>
                    <a:pt x="6967474" y="4323080"/>
                    <a:pt x="6845554" y="4323080"/>
                  </a:cubicBezTo>
                  <a:lnTo>
                    <a:pt x="220726" y="4323080"/>
                  </a:lnTo>
                  <a:cubicBezTo>
                    <a:pt x="98806" y="4323080"/>
                    <a:pt x="0" y="4224274"/>
                    <a:pt x="0" y="4102354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777490" y="6515100"/>
            <a:ext cx="1645920" cy="1645920"/>
            <a:chOff x="0" y="0"/>
            <a:chExt cx="2194560" cy="21945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037522" y="6775132"/>
            <a:ext cx="1125855" cy="1125855"/>
            <a:chOff x="0" y="0"/>
            <a:chExt cx="1501140" cy="15011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01140" cy="1501140"/>
            </a:xfrm>
            <a:custGeom>
              <a:avLst/>
              <a:gdLst/>
              <a:ahLst/>
              <a:cxnLst/>
              <a:rect l="l" t="t" r="r" b="b"/>
              <a:pathLst>
                <a:path w="1501140" h="1501140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cubicBezTo>
                    <a:pt x="1165098" y="0"/>
                    <a:pt x="1501140" y="336042"/>
                    <a:pt x="1501140" y="750570"/>
                  </a:cubicBezTo>
                  <a:cubicBezTo>
                    <a:pt x="1501140" y="1165098"/>
                    <a:pt x="1165098" y="1501140"/>
                    <a:pt x="750570" y="1501140"/>
                  </a:cubicBezTo>
                  <a:cubicBezTo>
                    <a:pt x="336042" y="1501140"/>
                    <a:pt x="0" y="1165098"/>
                    <a:pt x="0" y="7505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315157" y="7052767"/>
            <a:ext cx="570586" cy="570586"/>
            <a:chOff x="0" y="0"/>
            <a:chExt cx="760781" cy="760781"/>
          </a:xfrm>
        </p:grpSpPr>
        <p:sp>
          <p:nvSpPr>
            <p:cNvPr id="49" name="Freeform 49" descr="/home/claude/work/icons/dashboard.png"/>
            <p:cNvSpPr/>
            <p:nvPr/>
          </p:nvSpPr>
          <p:spPr>
            <a:xfrm>
              <a:off x="0" y="0"/>
              <a:ext cx="760730" cy="760730"/>
            </a:xfrm>
            <a:custGeom>
              <a:avLst/>
              <a:gdLst/>
              <a:ahLst/>
              <a:cxnLst/>
              <a:rect l="l" t="t" r="r" b="b"/>
              <a:pathLst>
                <a:path w="760730" h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6" b="-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394460" y="8206740"/>
            <a:ext cx="441198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 a Reporting Layer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94460" y="8892540"/>
            <a:ext cx="441198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SQL Views for orders, top restaurants, deliveries.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6574155" y="6162675"/>
            <a:ext cx="5299710" cy="3242310"/>
            <a:chOff x="0" y="0"/>
            <a:chExt cx="7066280" cy="43230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845554" y="0"/>
                  </a:lnTo>
                  <a:cubicBezTo>
                    <a:pt x="6967474" y="0"/>
                    <a:pt x="7066280" y="98806"/>
                    <a:pt x="7066280" y="220726"/>
                  </a:cubicBezTo>
                  <a:lnTo>
                    <a:pt x="7066280" y="4102354"/>
                  </a:lnTo>
                  <a:cubicBezTo>
                    <a:pt x="7066280" y="4224274"/>
                    <a:pt x="6967474" y="4323080"/>
                    <a:pt x="6845554" y="4323080"/>
                  </a:cubicBezTo>
                  <a:lnTo>
                    <a:pt x="220726" y="4323080"/>
                  </a:lnTo>
                  <a:cubicBezTo>
                    <a:pt x="98806" y="4323080"/>
                    <a:pt x="0" y="4224274"/>
                    <a:pt x="0" y="4102354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401050" y="6515100"/>
            <a:ext cx="1645920" cy="1645920"/>
            <a:chOff x="0" y="0"/>
            <a:chExt cx="2194560" cy="21945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661082" y="6775132"/>
            <a:ext cx="1125855" cy="1125855"/>
            <a:chOff x="0" y="0"/>
            <a:chExt cx="1501140" cy="15011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501140" cy="1501140"/>
            </a:xfrm>
            <a:custGeom>
              <a:avLst/>
              <a:gdLst/>
              <a:ahLst/>
              <a:cxnLst/>
              <a:rect l="l" t="t" r="r" b="b"/>
              <a:pathLst>
                <a:path w="1501140" h="1501140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cubicBezTo>
                    <a:pt x="1165098" y="0"/>
                    <a:pt x="1501140" y="336042"/>
                    <a:pt x="1501140" y="750570"/>
                  </a:cubicBezTo>
                  <a:cubicBezTo>
                    <a:pt x="1501140" y="1165098"/>
                    <a:pt x="1165098" y="1501140"/>
                    <a:pt x="750570" y="1501140"/>
                  </a:cubicBezTo>
                  <a:cubicBezTo>
                    <a:pt x="336042" y="1501140"/>
                    <a:pt x="0" y="1165098"/>
                    <a:pt x="0" y="7505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938717" y="7052767"/>
            <a:ext cx="570586" cy="570586"/>
            <a:chOff x="0" y="0"/>
            <a:chExt cx="760781" cy="760781"/>
          </a:xfrm>
        </p:grpSpPr>
        <p:sp>
          <p:nvSpPr>
            <p:cNvPr id="59" name="Freeform 59" descr="/home/claude/work/icons/sparkles.png"/>
            <p:cNvSpPr/>
            <p:nvPr/>
          </p:nvSpPr>
          <p:spPr>
            <a:xfrm>
              <a:off x="0" y="0"/>
              <a:ext cx="760730" cy="760730"/>
            </a:xfrm>
            <a:custGeom>
              <a:avLst/>
              <a:gdLst/>
              <a:ahLst/>
              <a:cxnLst/>
              <a:rect l="l" t="t" r="r" b="b"/>
              <a:pathLst>
                <a:path w="760730" h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6" b="-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7018020" y="8206740"/>
            <a:ext cx="441198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Realistic Sample Data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018020" y="8892540"/>
            <a:ext cx="441198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Faker library generates lifelike demo records.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2197715" y="6162675"/>
            <a:ext cx="5299710" cy="3242310"/>
            <a:chOff x="0" y="0"/>
            <a:chExt cx="7066280" cy="432308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066280" cy="4323080"/>
            </a:xfrm>
            <a:custGeom>
              <a:avLst/>
              <a:gdLst/>
              <a:ahLst/>
              <a:cxnLst/>
              <a:rect l="l" t="t" r="r" b="b"/>
              <a:pathLst>
                <a:path w="7066280" h="432308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845554" y="0"/>
                  </a:lnTo>
                  <a:cubicBezTo>
                    <a:pt x="6967474" y="0"/>
                    <a:pt x="7066280" y="98806"/>
                    <a:pt x="7066280" y="220726"/>
                  </a:cubicBezTo>
                  <a:lnTo>
                    <a:pt x="7066280" y="4102354"/>
                  </a:lnTo>
                  <a:cubicBezTo>
                    <a:pt x="7066280" y="4224274"/>
                    <a:pt x="6967474" y="4323080"/>
                    <a:pt x="6845554" y="4323080"/>
                  </a:cubicBezTo>
                  <a:lnTo>
                    <a:pt x="220726" y="4323080"/>
                  </a:lnTo>
                  <a:cubicBezTo>
                    <a:pt x="98806" y="4323080"/>
                    <a:pt x="0" y="4224274"/>
                    <a:pt x="0" y="4102354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024610" y="6515100"/>
            <a:ext cx="1645920" cy="1645920"/>
            <a:chOff x="0" y="0"/>
            <a:chExt cx="2194560" cy="21945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4284643" y="6775132"/>
            <a:ext cx="1125855" cy="1125855"/>
            <a:chOff x="0" y="0"/>
            <a:chExt cx="1501140" cy="15011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501140" cy="1501140"/>
            </a:xfrm>
            <a:custGeom>
              <a:avLst/>
              <a:gdLst/>
              <a:ahLst/>
              <a:cxnLst/>
              <a:rect l="l" t="t" r="r" b="b"/>
              <a:pathLst>
                <a:path w="1501140" h="1501140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cubicBezTo>
                    <a:pt x="1165098" y="0"/>
                    <a:pt x="1501140" y="336042"/>
                    <a:pt x="1501140" y="750570"/>
                  </a:cubicBezTo>
                  <a:cubicBezTo>
                    <a:pt x="1501140" y="1165098"/>
                    <a:pt x="1165098" y="1501140"/>
                    <a:pt x="750570" y="1501140"/>
                  </a:cubicBezTo>
                  <a:cubicBezTo>
                    <a:pt x="336042" y="1501140"/>
                    <a:pt x="0" y="1165098"/>
                    <a:pt x="0" y="7505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4562277" y="7052767"/>
            <a:ext cx="570586" cy="570586"/>
            <a:chOff x="0" y="0"/>
            <a:chExt cx="760781" cy="760781"/>
          </a:xfrm>
        </p:grpSpPr>
        <p:sp>
          <p:nvSpPr>
            <p:cNvPr id="69" name="Freeform 69" descr="/home/claude/work/icons/gitbranch.png"/>
            <p:cNvSpPr/>
            <p:nvPr/>
          </p:nvSpPr>
          <p:spPr>
            <a:xfrm>
              <a:off x="0" y="0"/>
              <a:ext cx="760730" cy="760730"/>
            </a:xfrm>
            <a:custGeom>
              <a:avLst/>
              <a:gdLst/>
              <a:ahLst/>
              <a:cxnLst/>
              <a:rect l="l" t="t" r="r" b="b"/>
              <a:pathLst>
                <a:path w="760730" h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6" b="-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2641580" y="8206740"/>
            <a:ext cx="4411980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Migrate SQLite to MySQL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2641580" y="8892540"/>
            <a:ext cx="441198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Resolve real dialect and syntax differences.</a:t>
            </a:r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41680" y="-3017520"/>
            <a:ext cx="7680960" cy="7680960"/>
            <a:chOff x="0" y="0"/>
            <a:chExt cx="10241280" cy="10241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1280" cy="10241280"/>
            </a:xfrm>
            <a:custGeom>
              <a:avLst/>
              <a:gdLst/>
              <a:ahLst/>
              <a:cxnLst/>
              <a:rect l="l" t="t" r="r" b="b"/>
              <a:pathLst>
                <a:path w="10241280" h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5700D8">
                <a:alpha val="1569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2743200" y="6995160"/>
            <a:ext cx="6035040" cy="6035040"/>
            <a:chOff x="0" y="0"/>
            <a:chExt cx="8046720" cy="8046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46720" cy="8046720"/>
            </a:xfrm>
            <a:custGeom>
              <a:avLst/>
              <a:gdLst/>
              <a:ahLst/>
              <a:cxnLst/>
              <a:rect l="l" t="t" r="r" b="b"/>
              <a:pathLst>
                <a:path w="8046720" h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</a:path>
              </a:pathLst>
            </a:custGeom>
            <a:solidFill>
              <a:srgbClr val="C33CC6">
                <a:alpha val="78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TOOLS POWERING THE PLATFORM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Technology Stack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0595" y="2733675"/>
            <a:ext cx="3928110" cy="5093970"/>
            <a:chOff x="0" y="0"/>
            <a:chExt cx="5237480" cy="67919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37480" cy="6791960"/>
            </a:xfrm>
            <a:custGeom>
              <a:avLst/>
              <a:gdLst/>
              <a:ahLst/>
              <a:cxnLst/>
              <a:rect l="l" t="t" r="r" b="b"/>
              <a:pathLst>
                <a:path w="5237480" h="679196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5016881" y="0"/>
                  </a:lnTo>
                  <a:cubicBezTo>
                    <a:pt x="5138674" y="0"/>
                    <a:pt x="5237480" y="98806"/>
                    <a:pt x="5237480" y="220599"/>
                  </a:cubicBezTo>
                  <a:lnTo>
                    <a:pt x="5237480" y="6571361"/>
                  </a:lnTo>
                  <a:cubicBezTo>
                    <a:pt x="5237480" y="6693154"/>
                    <a:pt x="5138674" y="6791960"/>
                    <a:pt x="5016881" y="6791960"/>
                  </a:cubicBezTo>
                  <a:lnTo>
                    <a:pt x="220599" y="6791960"/>
                  </a:lnTo>
                  <a:cubicBezTo>
                    <a:pt x="98806" y="6791960"/>
                    <a:pt x="0" y="6693154"/>
                    <a:pt x="0" y="6571361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85950" y="3017520"/>
            <a:ext cx="2057400" cy="2057400"/>
            <a:chOff x="0" y="0"/>
            <a:chExt cx="2743200" cy="2743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600"/>
                  </a:moveTo>
                  <a:cubicBezTo>
                    <a:pt x="0" y="614045"/>
                    <a:pt x="614045" y="0"/>
                    <a:pt x="1371600" y="0"/>
                  </a:cubicBezTo>
                  <a:cubicBezTo>
                    <a:pt x="2129155" y="0"/>
                    <a:pt x="2743200" y="614045"/>
                    <a:pt x="2743200" y="1371600"/>
                  </a:cubicBezTo>
                  <a:cubicBezTo>
                    <a:pt x="2743200" y="2129155"/>
                    <a:pt x="2129155" y="2743200"/>
                    <a:pt x="1371600" y="2743200"/>
                  </a:cubicBezTo>
                  <a:cubicBezTo>
                    <a:pt x="614045" y="2743200"/>
                    <a:pt x="0" y="2129155"/>
                    <a:pt x="0" y="13716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14562" y="3346133"/>
            <a:ext cx="1400175" cy="1400175"/>
            <a:chOff x="0" y="0"/>
            <a:chExt cx="1866900" cy="18669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66900" cy="1866900"/>
            </a:xfrm>
            <a:custGeom>
              <a:avLst/>
              <a:gdLst/>
              <a:ahLst/>
              <a:cxnLst/>
              <a:rect l="l" t="t" r="r" b="b"/>
              <a:pathLst>
                <a:path w="1866900" h="1866900">
                  <a:moveTo>
                    <a:pt x="0" y="933450"/>
                  </a:moveTo>
                  <a:cubicBezTo>
                    <a:pt x="0" y="417957"/>
                    <a:pt x="417957" y="0"/>
                    <a:pt x="933450" y="0"/>
                  </a:cubicBezTo>
                  <a:cubicBezTo>
                    <a:pt x="1448943" y="0"/>
                    <a:pt x="1866900" y="417957"/>
                    <a:pt x="1866900" y="933450"/>
                  </a:cubicBezTo>
                  <a:cubicBezTo>
                    <a:pt x="1866900" y="1448943"/>
                    <a:pt x="1448943" y="1866900"/>
                    <a:pt x="933450" y="1866900"/>
                  </a:cubicBezTo>
                  <a:cubicBezTo>
                    <a:pt x="417957" y="1866900"/>
                    <a:pt x="0" y="1448943"/>
                    <a:pt x="0" y="9334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4440" y="5143500"/>
            <a:ext cx="3360420" cy="685800"/>
            <a:chOff x="0" y="0"/>
            <a:chExt cx="448056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80560" cy="914400"/>
            </a:xfrm>
            <a:custGeom>
              <a:avLst/>
              <a:gdLst/>
              <a:ahLst/>
              <a:cxnLst/>
              <a:rect l="l" t="t" r="r" b="b"/>
              <a:pathLst>
                <a:path w="4480560" h="91440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b="-4547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44805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Python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43703" y="2733675"/>
            <a:ext cx="3928110" cy="5093970"/>
            <a:chOff x="0" y="0"/>
            <a:chExt cx="5237480" cy="67919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37480" cy="6791960"/>
            </a:xfrm>
            <a:custGeom>
              <a:avLst/>
              <a:gdLst/>
              <a:ahLst/>
              <a:cxnLst/>
              <a:rect l="l" t="t" r="r" b="b"/>
              <a:pathLst>
                <a:path w="5237480" h="679196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5016881" y="0"/>
                  </a:lnTo>
                  <a:cubicBezTo>
                    <a:pt x="5138674" y="0"/>
                    <a:pt x="5237480" y="98806"/>
                    <a:pt x="5237480" y="220599"/>
                  </a:cubicBezTo>
                  <a:lnTo>
                    <a:pt x="5237480" y="6571361"/>
                  </a:lnTo>
                  <a:cubicBezTo>
                    <a:pt x="5237480" y="6693154"/>
                    <a:pt x="5138674" y="6791960"/>
                    <a:pt x="5016881" y="6791960"/>
                  </a:cubicBezTo>
                  <a:lnTo>
                    <a:pt x="220599" y="6791960"/>
                  </a:lnTo>
                  <a:cubicBezTo>
                    <a:pt x="98806" y="6791960"/>
                    <a:pt x="0" y="6693154"/>
                    <a:pt x="0" y="6571361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79058" y="3017520"/>
            <a:ext cx="2057400" cy="2057400"/>
            <a:chOff x="0" y="0"/>
            <a:chExt cx="2743200" cy="2743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600"/>
                  </a:moveTo>
                  <a:cubicBezTo>
                    <a:pt x="0" y="614045"/>
                    <a:pt x="614045" y="0"/>
                    <a:pt x="1371600" y="0"/>
                  </a:cubicBezTo>
                  <a:cubicBezTo>
                    <a:pt x="2129155" y="0"/>
                    <a:pt x="2743200" y="614045"/>
                    <a:pt x="2743200" y="1371600"/>
                  </a:cubicBezTo>
                  <a:cubicBezTo>
                    <a:pt x="2743200" y="2129155"/>
                    <a:pt x="2129155" y="2743200"/>
                    <a:pt x="1371600" y="2743200"/>
                  </a:cubicBezTo>
                  <a:cubicBezTo>
                    <a:pt x="614045" y="2743200"/>
                    <a:pt x="0" y="2129155"/>
                    <a:pt x="0" y="1371600"/>
                  </a:cubicBezTo>
                  <a:close/>
                </a:path>
              </a:pathLst>
            </a:custGeom>
            <a:solidFill>
              <a:srgbClr val="A2BCFB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07670" y="3346133"/>
            <a:ext cx="1400175" cy="1400175"/>
            <a:chOff x="0" y="0"/>
            <a:chExt cx="1866900" cy="18669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866900" cy="1866900"/>
            </a:xfrm>
            <a:custGeom>
              <a:avLst/>
              <a:gdLst/>
              <a:ahLst/>
              <a:cxnLst/>
              <a:rect l="l" t="t" r="r" b="b"/>
              <a:pathLst>
                <a:path w="1866900" h="1866900">
                  <a:moveTo>
                    <a:pt x="0" y="933450"/>
                  </a:moveTo>
                  <a:cubicBezTo>
                    <a:pt x="0" y="417957"/>
                    <a:pt x="417957" y="0"/>
                    <a:pt x="933450" y="0"/>
                  </a:cubicBezTo>
                  <a:cubicBezTo>
                    <a:pt x="1448943" y="0"/>
                    <a:pt x="1866900" y="417957"/>
                    <a:pt x="1866900" y="933450"/>
                  </a:cubicBezTo>
                  <a:cubicBezTo>
                    <a:pt x="1866900" y="1448943"/>
                    <a:pt x="1448943" y="1866900"/>
                    <a:pt x="933450" y="1866900"/>
                  </a:cubicBezTo>
                  <a:cubicBezTo>
                    <a:pt x="417957" y="1866900"/>
                    <a:pt x="0" y="1448943"/>
                    <a:pt x="0" y="9334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A2BCF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1142" y="3689604"/>
            <a:ext cx="713232" cy="713232"/>
            <a:chOff x="0" y="0"/>
            <a:chExt cx="950976" cy="950976"/>
          </a:xfrm>
        </p:grpSpPr>
        <p:sp>
          <p:nvSpPr>
            <p:cNvPr id="28" name="Freeform 28" descr="/home/claude/work/icons/database.png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27548" y="5143500"/>
            <a:ext cx="3360420" cy="685800"/>
            <a:chOff x="0" y="0"/>
            <a:chExt cx="448056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480560" cy="914400"/>
            </a:xfrm>
            <a:custGeom>
              <a:avLst/>
              <a:gdLst/>
              <a:ahLst/>
              <a:cxnLst/>
              <a:rect l="l" t="t" r="r" b="b"/>
              <a:pathLst>
                <a:path w="4480560" h="91440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b="-4547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44805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MySQL 8.0+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36811" y="2733675"/>
            <a:ext cx="3928110" cy="5093970"/>
            <a:chOff x="0" y="0"/>
            <a:chExt cx="5237480" cy="67919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37480" cy="6791960"/>
            </a:xfrm>
            <a:custGeom>
              <a:avLst/>
              <a:gdLst/>
              <a:ahLst/>
              <a:cxnLst/>
              <a:rect l="l" t="t" r="r" b="b"/>
              <a:pathLst>
                <a:path w="5237480" h="679196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5016881" y="0"/>
                  </a:lnTo>
                  <a:cubicBezTo>
                    <a:pt x="5138674" y="0"/>
                    <a:pt x="5237480" y="98806"/>
                    <a:pt x="5237480" y="220599"/>
                  </a:cubicBezTo>
                  <a:lnTo>
                    <a:pt x="5237480" y="6571361"/>
                  </a:lnTo>
                  <a:cubicBezTo>
                    <a:pt x="5237480" y="6693154"/>
                    <a:pt x="5138674" y="6791960"/>
                    <a:pt x="5016881" y="6791960"/>
                  </a:cubicBezTo>
                  <a:lnTo>
                    <a:pt x="220599" y="6791960"/>
                  </a:lnTo>
                  <a:cubicBezTo>
                    <a:pt x="98806" y="6791960"/>
                    <a:pt x="0" y="6693154"/>
                    <a:pt x="0" y="6571361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472166" y="3017520"/>
            <a:ext cx="2057400" cy="2057400"/>
            <a:chOff x="0" y="0"/>
            <a:chExt cx="2743200" cy="2743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600"/>
                  </a:moveTo>
                  <a:cubicBezTo>
                    <a:pt x="0" y="614045"/>
                    <a:pt x="614045" y="0"/>
                    <a:pt x="1371600" y="0"/>
                  </a:cubicBezTo>
                  <a:cubicBezTo>
                    <a:pt x="2129155" y="0"/>
                    <a:pt x="2743200" y="614045"/>
                    <a:pt x="2743200" y="1371600"/>
                  </a:cubicBezTo>
                  <a:cubicBezTo>
                    <a:pt x="2743200" y="2129155"/>
                    <a:pt x="2129155" y="2743200"/>
                    <a:pt x="1371600" y="2743200"/>
                  </a:cubicBezTo>
                  <a:cubicBezTo>
                    <a:pt x="614045" y="2743200"/>
                    <a:pt x="0" y="2129155"/>
                    <a:pt x="0" y="13716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800778" y="3346133"/>
            <a:ext cx="1400175" cy="1400175"/>
            <a:chOff x="0" y="0"/>
            <a:chExt cx="1866900" cy="18669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66900" cy="1866900"/>
            </a:xfrm>
            <a:custGeom>
              <a:avLst/>
              <a:gdLst/>
              <a:ahLst/>
              <a:cxnLst/>
              <a:rect l="l" t="t" r="r" b="b"/>
              <a:pathLst>
                <a:path w="1866900" h="1866900">
                  <a:moveTo>
                    <a:pt x="0" y="933450"/>
                  </a:moveTo>
                  <a:cubicBezTo>
                    <a:pt x="0" y="417957"/>
                    <a:pt x="417957" y="0"/>
                    <a:pt x="933450" y="0"/>
                  </a:cubicBezTo>
                  <a:cubicBezTo>
                    <a:pt x="1448943" y="0"/>
                    <a:pt x="1866900" y="417957"/>
                    <a:pt x="1866900" y="933450"/>
                  </a:cubicBezTo>
                  <a:cubicBezTo>
                    <a:pt x="1866900" y="1448943"/>
                    <a:pt x="1448943" y="1866900"/>
                    <a:pt x="933450" y="1866900"/>
                  </a:cubicBezTo>
                  <a:cubicBezTo>
                    <a:pt x="417957" y="1866900"/>
                    <a:pt x="0" y="1448943"/>
                    <a:pt x="0" y="9334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144250" y="3689604"/>
            <a:ext cx="713232" cy="713232"/>
            <a:chOff x="0" y="0"/>
            <a:chExt cx="950976" cy="950976"/>
          </a:xfrm>
        </p:grpSpPr>
        <p:sp>
          <p:nvSpPr>
            <p:cNvPr id="39" name="Freeform 39" descr="/home/claude/work/icons/dashboard.png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820656" y="5143500"/>
            <a:ext cx="3360420" cy="685800"/>
            <a:chOff x="0" y="0"/>
            <a:chExt cx="4480560" cy="914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480560" cy="914400"/>
            </a:xfrm>
            <a:custGeom>
              <a:avLst/>
              <a:gdLst/>
              <a:ahLst/>
              <a:cxnLst/>
              <a:rect l="l" t="t" r="r" b="b"/>
              <a:pathLst>
                <a:path w="4480560" h="91440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b="-4547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44805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Streamlit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829919" y="2733675"/>
            <a:ext cx="3928110" cy="5093970"/>
            <a:chOff x="0" y="0"/>
            <a:chExt cx="5237480" cy="679196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237480" cy="6791960"/>
            </a:xfrm>
            <a:custGeom>
              <a:avLst/>
              <a:gdLst/>
              <a:ahLst/>
              <a:cxnLst/>
              <a:rect l="l" t="t" r="r" b="b"/>
              <a:pathLst>
                <a:path w="5237480" h="679196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5016881" y="0"/>
                  </a:lnTo>
                  <a:cubicBezTo>
                    <a:pt x="5138674" y="0"/>
                    <a:pt x="5237480" y="98806"/>
                    <a:pt x="5237480" y="220599"/>
                  </a:cubicBezTo>
                  <a:lnTo>
                    <a:pt x="5237480" y="6571361"/>
                  </a:lnTo>
                  <a:cubicBezTo>
                    <a:pt x="5237480" y="6693154"/>
                    <a:pt x="5138674" y="6791960"/>
                    <a:pt x="5016881" y="6791960"/>
                  </a:cubicBezTo>
                  <a:lnTo>
                    <a:pt x="220599" y="6791960"/>
                  </a:lnTo>
                  <a:cubicBezTo>
                    <a:pt x="98806" y="6791960"/>
                    <a:pt x="0" y="6693154"/>
                    <a:pt x="0" y="6571361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4765274" y="3017520"/>
            <a:ext cx="2057400" cy="2057400"/>
            <a:chOff x="0" y="0"/>
            <a:chExt cx="2743200" cy="2743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600"/>
                  </a:moveTo>
                  <a:cubicBezTo>
                    <a:pt x="0" y="614045"/>
                    <a:pt x="614045" y="0"/>
                    <a:pt x="1371600" y="0"/>
                  </a:cubicBezTo>
                  <a:cubicBezTo>
                    <a:pt x="2129155" y="0"/>
                    <a:pt x="2743200" y="614045"/>
                    <a:pt x="2743200" y="1371600"/>
                  </a:cubicBezTo>
                  <a:cubicBezTo>
                    <a:pt x="2743200" y="2129155"/>
                    <a:pt x="2129155" y="2743200"/>
                    <a:pt x="1371600" y="2743200"/>
                  </a:cubicBezTo>
                  <a:cubicBezTo>
                    <a:pt x="614045" y="2743200"/>
                    <a:pt x="0" y="2129155"/>
                    <a:pt x="0" y="1371600"/>
                  </a:cubicBezTo>
                  <a:close/>
                </a:path>
              </a:pathLst>
            </a:custGeom>
            <a:solidFill>
              <a:srgbClr val="A2BCFB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093887" y="3346133"/>
            <a:ext cx="1400175" cy="1400175"/>
            <a:chOff x="0" y="0"/>
            <a:chExt cx="1866900" cy="18669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866900" cy="1866900"/>
            </a:xfrm>
            <a:custGeom>
              <a:avLst/>
              <a:gdLst/>
              <a:ahLst/>
              <a:cxnLst/>
              <a:rect l="l" t="t" r="r" b="b"/>
              <a:pathLst>
                <a:path w="1866900" h="1866900">
                  <a:moveTo>
                    <a:pt x="0" y="933450"/>
                  </a:moveTo>
                  <a:cubicBezTo>
                    <a:pt x="0" y="417957"/>
                    <a:pt x="417957" y="0"/>
                    <a:pt x="933450" y="0"/>
                  </a:cubicBezTo>
                  <a:cubicBezTo>
                    <a:pt x="1448943" y="0"/>
                    <a:pt x="1866900" y="417957"/>
                    <a:pt x="1866900" y="933450"/>
                  </a:cubicBezTo>
                  <a:cubicBezTo>
                    <a:pt x="1866900" y="1448943"/>
                    <a:pt x="1448943" y="1866900"/>
                    <a:pt x="933450" y="1866900"/>
                  </a:cubicBezTo>
                  <a:cubicBezTo>
                    <a:pt x="417957" y="1866900"/>
                    <a:pt x="0" y="1448943"/>
                    <a:pt x="0" y="9334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A2BCF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437358" y="3689604"/>
            <a:ext cx="713232" cy="713232"/>
            <a:chOff x="0" y="0"/>
            <a:chExt cx="950976" cy="950976"/>
          </a:xfrm>
        </p:grpSpPr>
        <p:sp>
          <p:nvSpPr>
            <p:cNvPr id="50" name="Freeform 50" descr="/home/claude/work/icons/barchart.png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113764" y="5143500"/>
            <a:ext cx="3360420" cy="685800"/>
            <a:chOff x="0" y="0"/>
            <a:chExt cx="4480560" cy="9144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480560" cy="914400"/>
            </a:xfrm>
            <a:custGeom>
              <a:avLst/>
              <a:gdLst/>
              <a:ahLst/>
              <a:cxnLst/>
              <a:rect l="l" t="t" r="r" b="b"/>
              <a:pathLst>
                <a:path w="4480560" h="91440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b="-4547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44805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Plotly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6915943" y="9532620"/>
            <a:ext cx="960120" cy="480060"/>
            <a:chOff x="0" y="0"/>
            <a:chExt cx="1280160" cy="64008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80160" cy="640080"/>
            </a:xfrm>
            <a:custGeom>
              <a:avLst/>
              <a:gdLst/>
              <a:ahLst/>
              <a:cxnLst/>
              <a:rect l="l" t="t" r="r" b="b"/>
              <a:pathLst>
                <a:path w="1280160" h="64008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2801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</a:p>
          </p:txBody>
        </p:sp>
      </p:grpSp>
      <p:sp>
        <p:nvSpPr>
          <p:cNvPr id="57" name="Freeform 57"/>
          <p:cNvSpPr/>
          <p:nvPr/>
        </p:nvSpPr>
        <p:spPr>
          <a:xfrm>
            <a:off x="2422493" y="3554063"/>
            <a:ext cx="984313" cy="984313"/>
          </a:xfrm>
          <a:custGeom>
            <a:avLst/>
            <a:gdLst/>
            <a:ahLst/>
            <a:cxnLst/>
            <a:rect l="l" t="t" r="r" b="b"/>
            <a:pathLst>
              <a:path w="984313" h="984313">
                <a:moveTo>
                  <a:pt x="0" y="0"/>
                </a:moveTo>
                <a:lnTo>
                  <a:pt x="984314" y="0"/>
                </a:lnTo>
                <a:lnTo>
                  <a:pt x="984314" y="984314"/>
                </a:lnTo>
                <a:lnTo>
                  <a:pt x="0" y="984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8" name="TextBox 58"/>
          <p:cNvSpPr txBox="1"/>
          <p:nvPr/>
        </p:nvSpPr>
        <p:spPr>
          <a:xfrm>
            <a:off x="1435608" y="6012180"/>
            <a:ext cx="2958084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Core programming language connecting every layer.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28716" y="6012180"/>
            <a:ext cx="2958084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Relational engine with triggers, views and constraints.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021824" y="6012180"/>
            <a:ext cx="2958084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Interactive eight-page web dashboard, zero HTML.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314932" y="6012180"/>
            <a:ext cx="2958084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Interactive charts for KPIs and business trends.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94560" y="5760720"/>
            <a:ext cx="7132320" cy="7132320"/>
            <a:chOff x="0" y="0"/>
            <a:chExt cx="9509760" cy="9509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9760" cy="9509760"/>
            </a:xfrm>
            <a:custGeom>
              <a:avLst/>
              <a:gdLst/>
              <a:ahLst/>
              <a:cxnLst/>
              <a:rect l="l" t="t" r="r" b="b"/>
              <a:pathLst>
                <a:path w="9509760" h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C33CC6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676120" y="-2743200"/>
            <a:ext cx="6035040" cy="6035040"/>
            <a:chOff x="0" y="0"/>
            <a:chExt cx="8046720" cy="8046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46720" cy="8046720"/>
            </a:xfrm>
            <a:custGeom>
              <a:avLst/>
              <a:gdLst/>
              <a:ahLst/>
              <a:cxnLst/>
              <a:rect l="l" t="t" r="r" b="b"/>
              <a:pathLst>
                <a:path w="8046720" h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</a:path>
              </a:pathLst>
            </a:custGeom>
            <a:solidFill>
              <a:srgbClr val="5700D8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LAYERED REQUEST AND DATA FLOW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System Architecture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36366" y="2527935"/>
            <a:ext cx="11814810" cy="1596390"/>
            <a:chOff x="0" y="0"/>
            <a:chExt cx="15753080" cy="2128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753080" cy="2128520"/>
            </a:xfrm>
            <a:custGeom>
              <a:avLst/>
              <a:gdLst/>
              <a:ahLst/>
              <a:cxnLst/>
              <a:rect l="l" t="t" r="r" b="b"/>
              <a:pathLst>
                <a:path w="15753080" h="212852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15530957" y="0"/>
                  </a:lnTo>
                  <a:cubicBezTo>
                    <a:pt x="15653640" y="0"/>
                    <a:pt x="15753080" y="99441"/>
                    <a:pt x="15753080" y="222123"/>
                  </a:cubicBezTo>
                  <a:lnTo>
                    <a:pt x="15753080" y="1906397"/>
                  </a:lnTo>
                  <a:cubicBezTo>
                    <a:pt x="15753080" y="2029079"/>
                    <a:pt x="15653640" y="2128520"/>
                    <a:pt x="15530957" y="2128520"/>
                  </a:cubicBezTo>
                  <a:lnTo>
                    <a:pt x="222123" y="2128520"/>
                  </a:lnTo>
                  <a:cubicBezTo>
                    <a:pt x="99441" y="2128520"/>
                    <a:pt x="0" y="2029079"/>
                    <a:pt x="0" y="190639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640226" y="2554605"/>
            <a:ext cx="1543050" cy="1543050"/>
            <a:chOff x="0" y="0"/>
            <a:chExt cx="2057400" cy="2057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83114" y="2797492"/>
            <a:ext cx="1057275" cy="1057275"/>
            <a:chOff x="0" y="0"/>
            <a:chExt cx="1409700" cy="14097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144289" y="3058668"/>
            <a:ext cx="534924" cy="534924"/>
            <a:chOff x="0" y="0"/>
            <a:chExt cx="713232" cy="713232"/>
          </a:xfrm>
        </p:grpSpPr>
        <p:sp>
          <p:nvSpPr>
            <p:cNvPr id="19" name="Freeform 19" descr="/home/claude/work/icons/user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03291" y="2743200"/>
            <a:ext cx="9326880" cy="617220"/>
            <a:chOff x="0" y="0"/>
            <a:chExt cx="12435840" cy="8229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435840" cy="822960"/>
            </a:xfrm>
            <a:custGeom>
              <a:avLst/>
              <a:gdLst/>
              <a:ahLst/>
              <a:cxnLst/>
              <a:rect l="l" t="t" r="r" b="b"/>
              <a:pathLst>
                <a:path w="12435840" h="82296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440" b="-2444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24358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User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03291" y="3360420"/>
            <a:ext cx="9326880" cy="617220"/>
            <a:chOff x="0" y="0"/>
            <a:chExt cx="12435840" cy="8229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35840" cy="822960"/>
            </a:xfrm>
            <a:custGeom>
              <a:avLst/>
              <a:gdLst/>
              <a:ahLst/>
              <a:cxnLst/>
              <a:rect l="l" t="t" r="r" b="b"/>
              <a:pathLst>
                <a:path w="12435840" h="82296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440" b="-2444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124358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Interacts through the browser-based dashboard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51747" y="4142232"/>
            <a:ext cx="384048" cy="288036"/>
            <a:chOff x="0" y="0"/>
            <a:chExt cx="512064" cy="384048"/>
          </a:xfrm>
        </p:grpSpPr>
        <p:sp>
          <p:nvSpPr>
            <p:cNvPr id="27" name="Freeform 27" descr="/home/claude/work/icons/arrowdown.png"/>
            <p:cNvSpPr/>
            <p:nvPr/>
          </p:nvSpPr>
          <p:spPr>
            <a:xfrm>
              <a:off x="0" y="0"/>
              <a:ext cx="512064" cy="384048"/>
            </a:xfrm>
            <a:custGeom>
              <a:avLst/>
              <a:gdLst/>
              <a:ahLst/>
              <a:cxnLst/>
              <a:rect l="l" t="t" r="r" b="b"/>
              <a:pathLst>
                <a:path w="512064" h="384048">
                  <a:moveTo>
                    <a:pt x="0" y="0"/>
                  </a:moveTo>
                  <a:lnTo>
                    <a:pt x="512064" y="0"/>
                  </a:lnTo>
                  <a:lnTo>
                    <a:pt x="512064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666" b="-166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236366" y="4448175"/>
            <a:ext cx="11814810" cy="1596390"/>
            <a:chOff x="0" y="0"/>
            <a:chExt cx="15753080" cy="2128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753080" cy="2128520"/>
            </a:xfrm>
            <a:custGeom>
              <a:avLst/>
              <a:gdLst/>
              <a:ahLst/>
              <a:cxnLst/>
              <a:rect l="l" t="t" r="r" b="b"/>
              <a:pathLst>
                <a:path w="15753080" h="212852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15530957" y="0"/>
                  </a:lnTo>
                  <a:cubicBezTo>
                    <a:pt x="15653640" y="0"/>
                    <a:pt x="15753080" y="99441"/>
                    <a:pt x="15753080" y="222123"/>
                  </a:cubicBezTo>
                  <a:lnTo>
                    <a:pt x="15753080" y="1906397"/>
                  </a:lnTo>
                  <a:cubicBezTo>
                    <a:pt x="15753080" y="2029079"/>
                    <a:pt x="15653640" y="2128520"/>
                    <a:pt x="15530957" y="2128520"/>
                  </a:cubicBezTo>
                  <a:lnTo>
                    <a:pt x="222123" y="2128520"/>
                  </a:lnTo>
                  <a:cubicBezTo>
                    <a:pt x="99441" y="2128520"/>
                    <a:pt x="0" y="2029079"/>
                    <a:pt x="0" y="190639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640226" y="4474845"/>
            <a:ext cx="1543050" cy="1543050"/>
            <a:chOff x="0" y="0"/>
            <a:chExt cx="2057400" cy="2057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883114" y="4717732"/>
            <a:ext cx="1057275" cy="1057275"/>
            <a:chOff x="0" y="0"/>
            <a:chExt cx="1409700" cy="14097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144289" y="4978908"/>
            <a:ext cx="534924" cy="534924"/>
            <a:chOff x="0" y="0"/>
            <a:chExt cx="713232" cy="713232"/>
          </a:xfrm>
        </p:grpSpPr>
        <p:sp>
          <p:nvSpPr>
            <p:cNvPr id="35" name="Freeform 35" descr="/home/claude/work/icons/appwindow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03291" y="4663440"/>
            <a:ext cx="9326880" cy="617220"/>
            <a:chOff x="0" y="0"/>
            <a:chExt cx="12435840" cy="8229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435840" cy="822960"/>
            </a:xfrm>
            <a:custGeom>
              <a:avLst/>
              <a:gdLst/>
              <a:ahLst/>
              <a:cxnLst/>
              <a:rect l="l" t="t" r="r" b="b"/>
              <a:pathLst>
                <a:path w="12435840" h="82296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440" b="-2444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24358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Streamlit Application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03291" y="5280660"/>
            <a:ext cx="9326880" cy="617220"/>
            <a:chOff x="0" y="0"/>
            <a:chExt cx="12435840" cy="8229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435840" cy="822960"/>
            </a:xfrm>
            <a:custGeom>
              <a:avLst/>
              <a:gdLst/>
              <a:ahLst/>
              <a:cxnLst/>
              <a:rect l="l" t="t" r="r" b="b"/>
              <a:pathLst>
                <a:path w="12435840" h="82296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440" b="-2444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124358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Renders pages, charts and the SQL console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951747" y="6062472"/>
            <a:ext cx="384048" cy="288036"/>
            <a:chOff x="0" y="0"/>
            <a:chExt cx="512064" cy="384048"/>
          </a:xfrm>
        </p:grpSpPr>
        <p:sp>
          <p:nvSpPr>
            <p:cNvPr id="43" name="Freeform 43" descr="/home/claude/work/icons/arrowdown.png"/>
            <p:cNvSpPr/>
            <p:nvPr/>
          </p:nvSpPr>
          <p:spPr>
            <a:xfrm>
              <a:off x="0" y="0"/>
              <a:ext cx="512064" cy="384048"/>
            </a:xfrm>
            <a:custGeom>
              <a:avLst/>
              <a:gdLst/>
              <a:ahLst/>
              <a:cxnLst/>
              <a:rect l="l" t="t" r="r" b="b"/>
              <a:pathLst>
                <a:path w="512064" h="384048">
                  <a:moveTo>
                    <a:pt x="0" y="0"/>
                  </a:moveTo>
                  <a:lnTo>
                    <a:pt x="512064" y="0"/>
                  </a:lnTo>
                  <a:lnTo>
                    <a:pt x="512064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666" b="-166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236366" y="6368415"/>
            <a:ext cx="11814810" cy="1596390"/>
            <a:chOff x="0" y="0"/>
            <a:chExt cx="15753080" cy="2128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753080" cy="2128520"/>
            </a:xfrm>
            <a:custGeom>
              <a:avLst/>
              <a:gdLst/>
              <a:ahLst/>
              <a:cxnLst/>
              <a:rect l="l" t="t" r="r" b="b"/>
              <a:pathLst>
                <a:path w="15753080" h="212852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15530957" y="0"/>
                  </a:lnTo>
                  <a:cubicBezTo>
                    <a:pt x="15653640" y="0"/>
                    <a:pt x="15753080" y="99441"/>
                    <a:pt x="15753080" y="222123"/>
                  </a:cubicBezTo>
                  <a:lnTo>
                    <a:pt x="15753080" y="1906397"/>
                  </a:lnTo>
                  <a:cubicBezTo>
                    <a:pt x="15753080" y="2029079"/>
                    <a:pt x="15653640" y="2128520"/>
                    <a:pt x="15530957" y="2128520"/>
                  </a:cubicBezTo>
                  <a:lnTo>
                    <a:pt x="222123" y="2128520"/>
                  </a:lnTo>
                  <a:cubicBezTo>
                    <a:pt x="99441" y="2128520"/>
                    <a:pt x="0" y="2029079"/>
                    <a:pt x="0" y="190639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40226" y="6395085"/>
            <a:ext cx="1543050" cy="1543050"/>
            <a:chOff x="0" y="0"/>
            <a:chExt cx="2057400" cy="2057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83114" y="6637972"/>
            <a:ext cx="1057275" cy="1057275"/>
            <a:chOff x="0" y="0"/>
            <a:chExt cx="1409700" cy="14097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144289" y="6899148"/>
            <a:ext cx="534924" cy="534924"/>
            <a:chOff x="0" y="0"/>
            <a:chExt cx="713232" cy="713232"/>
          </a:xfrm>
        </p:grpSpPr>
        <p:sp>
          <p:nvSpPr>
            <p:cNvPr id="51" name="Freeform 51" descr="/home/claude/work/icons/database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303291" y="6583680"/>
            <a:ext cx="9326880" cy="617220"/>
            <a:chOff x="0" y="0"/>
            <a:chExt cx="12435840" cy="8229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435840" cy="822960"/>
            </a:xfrm>
            <a:custGeom>
              <a:avLst/>
              <a:gdLst/>
              <a:ahLst/>
              <a:cxnLst/>
              <a:rect l="l" t="t" r="r" b="b"/>
              <a:pathLst>
                <a:path w="12435840" h="82296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440" b="-2444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124358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MySQL Database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303291" y="7200900"/>
            <a:ext cx="9326880" cy="617220"/>
            <a:chOff x="0" y="0"/>
            <a:chExt cx="12435840" cy="8229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2435840" cy="822960"/>
            </a:xfrm>
            <a:custGeom>
              <a:avLst/>
              <a:gdLst/>
              <a:ahLst/>
              <a:cxnLst/>
              <a:rect l="l" t="t" r="r" b="b"/>
              <a:pathLst>
                <a:path w="12435840" h="82296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440" b="-2444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124358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Applies constraints, triggers and views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951747" y="7982712"/>
            <a:ext cx="384048" cy="288036"/>
            <a:chOff x="0" y="0"/>
            <a:chExt cx="512064" cy="384048"/>
          </a:xfrm>
        </p:grpSpPr>
        <p:sp>
          <p:nvSpPr>
            <p:cNvPr id="59" name="Freeform 59" descr="/home/claude/work/icons/arrowdown.png"/>
            <p:cNvSpPr/>
            <p:nvPr/>
          </p:nvSpPr>
          <p:spPr>
            <a:xfrm>
              <a:off x="0" y="0"/>
              <a:ext cx="512064" cy="384048"/>
            </a:xfrm>
            <a:custGeom>
              <a:avLst/>
              <a:gdLst/>
              <a:ahLst/>
              <a:cxnLst/>
              <a:rect l="l" t="t" r="r" b="b"/>
              <a:pathLst>
                <a:path w="512064" h="384048">
                  <a:moveTo>
                    <a:pt x="0" y="0"/>
                  </a:moveTo>
                  <a:lnTo>
                    <a:pt x="512064" y="0"/>
                  </a:lnTo>
                  <a:lnTo>
                    <a:pt x="512064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666" b="-166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236366" y="8288655"/>
            <a:ext cx="11814810" cy="1596390"/>
            <a:chOff x="0" y="0"/>
            <a:chExt cx="15753080" cy="21285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5753080" cy="2128520"/>
            </a:xfrm>
            <a:custGeom>
              <a:avLst/>
              <a:gdLst/>
              <a:ahLst/>
              <a:cxnLst/>
              <a:rect l="l" t="t" r="r" b="b"/>
              <a:pathLst>
                <a:path w="15753080" h="212852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15530957" y="0"/>
                  </a:lnTo>
                  <a:cubicBezTo>
                    <a:pt x="15653640" y="0"/>
                    <a:pt x="15753080" y="99441"/>
                    <a:pt x="15753080" y="222123"/>
                  </a:cubicBezTo>
                  <a:lnTo>
                    <a:pt x="15753080" y="1906397"/>
                  </a:lnTo>
                  <a:cubicBezTo>
                    <a:pt x="15753080" y="2029079"/>
                    <a:pt x="15653640" y="2128520"/>
                    <a:pt x="15530957" y="2128520"/>
                  </a:cubicBezTo>
                  <a:lnTo>
                    <a:pt x="222123" y="2128520"/>
                  </a:lnTo>
                  <a:cubicBezTo>
                    <a:pt x="99441" y="2128520"/>
                    <a:pt x="0" y="2029079"/>
                    <a:pt x="0" y="190639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640226" y="8315325"/>
            <a:ext cx="1543050" cy="1543050"/>
            <a:chOff x="0" y="0"/>
            <a:chExt cx="2057400" cy="20574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883114" y="8558212"/>
            <a:ext cx="1057275" cy="1057275"/>
            <a:chOff x="0" y="0"/>
            <a:chExt cx="1409700" cy="14097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144289" y="8819388"/>
            <a:ext cx="534924" cy="534924"/>
            <a:chOff x="0" y="0"/>
            <a:chExt cx="713232" cy="713232"/>
          </a:xfrm>
        </p:grpSpPr>
        <p:sp>
          <p:nvSpPr>
            <p:cNvPr id="67" name="Freeform 67" descr="/home/claude/work/icons/dashboard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303291" y="8503920"/>
            <a:ext cx="9326880" cy="617220"/>
            <a:chOff x="0" y="0"/>
            <a:chExt cx="12435840" cy="82296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2435840" cy="822960"/>
            </a:xfrm>
            <a:custGeom>
              <a:avLst/>
              <a:gdLst/>
              <a:ahLst/>
              <a:cxnLst/>
              <a:rect l="l" t="t" r="r" b="b"/>
              <a:pathLst>
                <a:path w="12435840" h="82296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440" b="-2444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124358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Visualization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303291" y="9121140"/>
            <a:ext cx="9326880" cy="617220"/>
            <a:chOff x="0" y="0"/>
            <a:chExt cx="12435840" cy="8229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2435840" cy="822960"/>
            </a:xfrm>
            <a:custGeom>
              <a:avLst/>
              <a:gdLst/>
              <a:ahLst/>
              <a:cxnLst/>
              <a:rect l="l" t="t" r="r" b="b"/>
              <a:pathLst>
                <a:path w="12435840" h="82296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440" b="-2444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124358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Displays KPIs, tables and Plotly charts</a:t>
              </a:r>
            </a:p>
          </p:txBody>
        </p:sp>
      </p:grpSp>
      <p:pic>
        <p:nvPicPr>
          <p:cNvPr id="74" name="Picture 7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6000" y="5897880"/>
            <a:ext cx="7132320" cy="7132320"/>
            <a:chOff x="0" y="0"/>
            <a:chExt cx="9509760" cy="9509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9760" cy="9509760"/>
            </a:xfrm>
            <a:custGeom>
              <a:avLst/>
              <a:gdLst/>
              <a:ahLst/>
              <a:cxnLst/>
              <a:rect l="l" t="t" r="r" b="b"/>
              <a:pathLst>
                <a:path w="9509760" h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5700D8">
                <a:alpha val="1569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017520" y="-2743200"/>
            <a:ext cx="5486400" cy="5486400"/>
            <a:chOff x="0" y="0"/>
            <a:chExt cx="7315200" cy="731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33CC6">
                <a:alpha val="78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ELEVEN-TABLE NORMALIZED SCHEMA (3NF)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Database Design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8670" y="2434590"/>
            <a:ext cx="1440180" cy="1440180"/>
            <a:chOff x="0" y="0"/>
            <a:chExt cx="1920240" cy="19202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0240" cy="1920240"/>
            </a:xfrm>
            <a:custGeom>
              <a:avLst/>
              <a:gdLst/>
              <a:ahLst/>
              <a:cxnLst/>
              <a:rect l="l" t="t" r="r" b="b"/>
              <a:pathLst>
                <a:path w="1920240" h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4412" y="2660333"/>
            <a:ext cx="988695" cy="988695"/>
            <a:chOff x="0" y="0"/>
            <a:chExt cx="1318260" cy="13182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18260" cy="1318260"/>
            </a:xfrm>
            <a:custGeom>
              <a:avLst/>
              <a:gdLst/>
              <a:ahLst/>
              <a:cxnLst/>
              <a:rect l="l" t="t" r="r" b="b"/>
              <a:pathLst>
                <a:path w="1318260" h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9129" y="2905049"/>
            <a:ext cx="499262" cy="499262"/>
            <a:chOff x="0" y="0"/>
            <a:chExt cx="665683" cy="665683"/>
          </a:xfrm>
        </p:grpSpPr>
        <p:sp>
          <p:nvSpPr>
            <p:cNvPr id="17" name="Freeform 17" descr="/home/claude/work/icons/key.png"/>
            <p:cNvSpPr/>
            <p:nvPr/>
          </p:nvSpPr>
          <p:spPr>
            <a:xfrm>
              <a:off x="0" y="0"/>
              <a:ext cx="665734" cy="665734"/>
            </a:xfrm>
            <a:custGeom>
              <a:avLst/>
              <a:gdLst/>
              <a:ahLst/>
              <a:cxnLst/>
              <a:rect l="l" t="t" r="r" b="b"/>
              <a:pathLst>
                <a:path w="665734" h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7"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63140" y="2606040"/>
            <a:ext cx="6103620" cy="548640"/>
            <a:chOff x="0" y="0"/>
            <a:chExt cx="813816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38160" cy="731520"/>
            </a:xfrm>
            <a:custGeom>
              <a:avLst/>
              <a:gdLst/>
              <a:ahLst/>
              <a:cxnLst/>
              <a:rect l="l" t="t" r="r" b="b"/>
              <a:pathLst>
                <a:path w="8138160" h="731520">
                  <a:moveTo>
                    <a:pt x="0" y="0"/>
                  </a:moveTo>
                  <a:lnTo>
                    <a:pt x="8138160" y="0"/>
                  </a:lnTo>
                  <a:lnTo>
                    <a:pt x="8138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771" b="-16677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81381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Primary Keys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263140" y="3127248"/>
            <a:ext cx="6103620" cy="617220"/>
            <a:chOff x="0" y="0"/>
            <a:chExt cx="8138160" cy="8229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38160" cy="822960"/>
            </a:xfrm>
            <a:custGeom>
              <a:avLst/>
              <a:gdLst/>
              <a:ahLst/>
              <a:cxnLst/>
              <a:rect l="l" t="t" r="r" b="b"/>
              <a:pathLst>
                <a:path w="8138160" h="822960">
                  <a:moveTo>
                    <a:pt x="0" y="0"/>
                  </a:moveTo>
                  <a:lnTo>
                    <a:pt x="8138160" y="0"/>
                  </a:lnTo>
                  <a:lnTo>
                    <a:pt x="8138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685" b="-1426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813816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Every table uses an auto-increment identity column.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8670" y="4011930"/>
            <a:ext cx="1440180" cy="1440180"/>
            <a:chOff x="0" y="0"/>
            <a:chExt cx="1920240" cy="19202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20240" cy="1920240"/>
            </a:xfrm>
            <a:custGeom>
              <a:avLst/>
              <a:gdLst/>
              <a:ahLst/>
              <a:cxnLst/>
              <a:rect l="l" t="t" r="r" b="b"/>
              <a:pathLst>
                <a:path w="1920240" h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14412" y="4237672"/>
            <a:ext cx="988695" cy="988695"/>
            <a:chOff x="0" y="0"/>
            <a:chExt cx="1318260" cy="13182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18260" cy="1318260"/>
            </a:xfrm>
            <a:custGeom>
              <a:avLst/>
              <a:gdLst/>
              <a:ahLst/>
              <a:cxnLst/>
              <a:rect l="l" t="t" r="r" b="b"/>
              <a:pathLst>
                <a:path w="1318260" h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59129" y="4482389"/>
            <a:ext cx="499262" cy="499262"/>
            <a:chOff x="0" y="0"/>
            <a:chExt cx="665683" cy="665683"/>
          </a:xfrm>
        </p:grpSpPr>
        <p:sp>
          <p:nvSpPr>
            <p:cNvPr id="29" name="Freeform 29" descr="/home/claude/work/icons/link.png"/>
            <p:cNvSpPr/>
            <p:nvPr/>
          </p:nvSpPr>
          <p:spPr>
            <a:xfrm>
              <a:off x="0" y="0"/>
              <a:ext cx="665734" cy="665734"/>
            </a:xfrm>
            <a:custGeom>
              <a:avLst/>
              <a:gdLst/>
              <a:ahLst/>
              <a:cxnLst/>
              <a:rect l="l" t="t" r="r" b="b"/>
              <a:pathLst>
                <a:path w="665734" h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7"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63140" y="4183380"/>
            <a:ext cx="6103620" cy="548640"/>
            <a:chOff x="0" y="0"/>
            <a:chExt cx="8138160" cy="731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38160" cy="731520"/>
            </a:xfrm>
            <a:custGeom>
              <a:avLst/>
              <a:gdLst/>
              <a:ahLst/>
              <a:cxnLst/>
              <a:rect l="l" t="t" r="r" b="b"/>
              <a:pathLst>
                <a:path w="8138160" h="731520">
                  <a:moveTo>
                    <a:pt x="0" y="0"/>
                  </a:moveTo>
                  <a:lnTo>
                    <a:pt x="8138160" y="0"/>
                  </a:lnTo>
                  <a:lnTo>
                    <a:pt x="8138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771" b="-16677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81381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Foreign Keys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263140" y="4704588"/>
            <a:ext cx="6103620" cy="617220"/>
            <a:chOff x="0" y="0"/>
            <a:chExt cx="8138160" cy="8229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38160" cy="822960"/>
            </a:xfrm>
            <a:custGeom>
              <a:avLst/>
              <a:gdLst/>
              <a:ahLst/>
              <a:cxnLst/>
              <a:rect l="l" t="t" r="r" b="b"/>
              <a:pathLst>
                <a:path w="8138160" h="822960">
                  <a:moveTo>
                    <a:pt x="0" y="0"/>
                  </a:moveTo>
                  <a:lnTo>
                    <a:pt x="8138160" y="0"/>
                  </a:lnTo>
                  <a:lnTo>
                    <a:pt x="8138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685" b="-1426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813816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 DELETE CASCADE keeps related records consistent.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88670" y="5589270"/>
            <a:ext cx="1440180" cy="1440180"/>
            <a:chOff x="0" y="0"/>
            <a:chExt cx="1920240" cy="19202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20240" cy="1920240"/>
            </a:xfrm>
            <a:custGeom>
              <a:avLst/>
              <a:gdLst/>
              <a:ahLst/>
              <a:cxnLst/>
              <a:rect l="l" t="t" r="r" b="b"/>
              <a:pathLst>
                <a:path w="1920240" h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14412" y="5815012"/>
            <a:ext cx="988695" cy="988695"/>
            <a:chOff x="0" y="0"/>
            <a:chExt cx="1318260" cy="13182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18260" cy="1318260"/>
            </a:xfrm>
            <a:custGeom>
              <a:avLst/>
              <a:gdLst/>
              <a:ahLst/>
              <a:cxnLst/>
              <a:rect l="l" t="t" r="r" b="b"/>
              <a:pathLst>
                <a:path w="1318260" h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59129" y="6059729"/>
            <a:ext cx="499262" cy="499262"/>
            <a:chOff x="0" y="0"/>
            <a:chExt cx="665683" cy="665683"/>
          </a:xfrm>
        </p:grpSpPr>
        <p:sp>
          <p:nvSpPr>
            <p:cNvPr id="41" name="Freeform 41" descr="/home/claude/work/icons/layers.png"/>
            <p:cNvSpPr/>
            <p:nvPr/>
          </p:nvSpPr>
          <p:spPr>
            <a:xfrm>
              <a:off x="0" y="0"/>
              <a:ext cx="665734" cy="665734"/>
            </a:xfrm>
            <a:custGeom>
              <a:avLst/>
              <a:gdLst/>
              <a:ahLst/>
              <a:cxnLst/>
              <a:rect l="l" t="t" r="r" b="b"/>
              <a:pathLst>
                <a:path w="665734" h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7"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263140" y="5760720"/>
            <a:ext cx="6103620" cy="548640"/>
            <a:chOff x="0" y="0"/>
            <a:chExt cx="813816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38160" cy="731520"/>
            </a:xfrm>
            <a:custGeom>
              <a:avLst/>
              <a:gdLst/>
              <a:ahLst/>
              <a:cxnLst/>
              <a:rect l="l" t="t" r="r" b="b"/>
              <a:pathLst>
                <a:path w="8138160" h="731520">
                  <a:moveTo>
                    <a:pt x="0" y="0"/>
                  </a:moveTo>
                  <a:lnTo>
                    <a:pt x="8138160" y="0"/>
                  </a:lnTo>
                  <a:lnTo>
                    <a:pt x="8138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771" b="-16677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81381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Normalization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263140" y="6281928"/>
            <a:ext cx="6103620" cy="617220"/>
            <a:chOff x="0" y="0"/>
            <a:chExt cx="8138160" cy="8229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38160" cy="822960"/>
            </a:xfrm>
            <a:custGeom>
              <a:avLst/>
              <a:gdLst/>
              <a:ahLst/>
              <a:cxnLst/>
              <a:rect l="l" t="t" r="r" b="b"/>
              <a:pathLst>
                <a:path w="8138160" h="822960">
                  <a:moveTo>
                    <a:pt x="0" y="0"/>
                  </a:moveTo>
                  <a:lnTo>
                    <a:pt x="8138160" y="0"/>
                  </a:lnTo>
                  <a:lnTo>
                    <a:pt x="8138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685" b="-1426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813816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Schema follows third normal form throughout.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88670" y="7166610"/>
            <a:ext cx="1440180" cy="1440180"/>
            <a:chOff x="0" y="0"/>
            <a:chExt cx="1920240" cy="19202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920240" cy="1920240"/>
            </a:xfrm>
            <a:custGeom>
              <a:avLst/>
              <a:gdLst/>
              <a:ahLst/>
              <a:cxnLst/>
              <a:rect l="l" t="t" r="r" b="b"/>
              <a:pathLst>
                <a:path w="1920240" h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14412" y="7392353"/>
            <a:ext cx="988695" cy="988695"/>
            <a:chOff x="0" y="0"/>
            <a:chExt cx="1318260" cy="13182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318260" cy="1318260"/>
            </a:xfrm>
            <a:custGeom>
              <a:avLst/>
              <a:gdLst/>
              <a:ahLst/>
              <a:cxnLst/>
              <a:rect l="l" t="t" r="r" b="b"/>
              <a:pathLst>
                <a:path w="1318260" h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59129" y="7637069"/>
            <a:ext cx="499262" cy="499262"/>
            <a:chOff x="0" y="0"/>
            <a:chExt cx="665683" cy="665683"/>
          </a:xfrm>
        </p:grpSpPr>
        <p:sp>
          <p:nvSpPr>
            <p:cNvPr id="53" name="Freeform 53" descr="/home/claude/work/icons/network.png"/>
            <p:cNvSpPr/>
            <p:nvPr/>
          </p:nvSpPr>
          <p:spPr>
            <a:xfrm>
              <a:off x="0" y="0"/>
              <a:ext cx="665734" cy="665734"/>
            </a:xfrm>
            <a:custGeom>
              <a:avLst/>
              <a:gdLst/>
              <a:ahLst/>
              <a:cxnLst/>
              <a:rect l="l" t="t" r="r" b="b"/>
              <a:pathLst>
                <a:path w="665734" h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7"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263140" y="7338060"/>
            <a:ext cx="6103620" cy="548640"/>
            <a:chOff x="0" y="0"/>
            <a:chExt cx="8138160" cy="7315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38160" cy="731520"/>
            </a:xfrm>
            <a:custGeom>
              <a:avLst/>
              <a:gdLst/>
              <a:ahLst/>
              <a:cxnLst/>
              <a:rect l="l" t="t" r="r" b="b"/>
              <a:pathLst>
                <a:path w="8138160" h="731520">
                  <a:moveTo>
                    <a:pt x="0" y="0"/>
                  </a:moveTo>
                  <a:lnTo>
                    <a:pt x="8138160" y="0"/>
                  </a:lnTo>
                  <a:lnTo>
                    <a:pt x="8138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771" b="-16677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81381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Relationships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263140" y="7859268"/>
            <a:ext cx="6103620" cy="617220"/>
            <a:chOff x="0" y="0"/>
            <a:chExt cx="8138160" cy="8229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38160" cy="822960"/>
            </a:xfrm>
            <a:custGeom>
              <a:avLst/>
              <a:gdLst/>
              <a:ahLst/>
              <a:cxnLst/>
              <a:rect l="l" t="t" r="r" b="b"/>
              <a:pathLst>
                <a:path w="8138160" h="822960">
                  <a:moveTo>
                    <a:pt x="0" y="0"/>
                  </a:moveTo>
                  <a:lnTo>
                    <a:pt x="8138160" y="0"/>
                  </a:lnTo>
                  <a:lnTo>
                    <a:pt x="8138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685" b="-1426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813816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One-to-one, one-to-many and junction tables.</a:t>
              </a:r>
            </a:p>
          </p:txBody>
        </p:sp>
      </p:grpSp>
      <p:grpSp>
        <p:nvGrpSpPr>
          <p:cNvPr id="61" name="Group 12"/>
          <p:cNvGrpSpPr/>
          <p:nvPr/>
        </p:nvGrpSpPr>
        <p:grpSpPr>
          <a:xfrm>
            <a:off x="9982199" y="2796731"/>
            <a:ext cx="7467601" cy="4369879"/>
            <a:chOff x="0" y="0"/>
            <a:chExt cx="10541000" cy="8895080"/>
          </a:xfrm>
        </p:grpSpPr>
        <p:sp>
          <p:nvSpPr>
            <p:cNvPr id="62" name="Freeform 13"/>
            <p:cNvSpPr/>
            <p:nvPr/>
          </p:nvSpPr>
          <p:spPr>
            <a:xfrm>
              <a:off x="0" y="0"/>
              <a:ext cx="10541000" cy="8895080"/>
            </a:xfrm>
            <a:custGeom>
              <a:avLst/>
              <a:gdLst/>
              <a:ahLst/>
              <a:cxnLst/>
              <a:rect l="l" t="t" r="r" b="b"/>
              <a:pathLst>
                <a:path w="10541000" h="889508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320909" y="0"/>
                  </a:lnTo>
                  <a:cubicBezTo>
                    <a:pt x="10442448" y="0"/>
                    <a:pt x="10541000" y="98552"/>
                    <a:pt x="10541000" y="220091"/>
                  </a:cubicBezTo>
                  <a:lnTo>
                    <a:pt x="10541000" y="8674989"/>
                  </a:lnTo>
                  <a:cubicBezTo>
                    <a:pt x="10541000" y="8796528"/>
                    <a:pt x="10442448" y="8895080"/>
                    <a:pt x="10320909" y="8895080"/>
                  </a:cubicBezTo>
                  <a:lnTo>
                    <a:pt x="220091" y="8895080"/>
                  </a:lnTo>
                  <a:cubicBezTo>
                    <a:pt x="98552" y="8895080"/>
                    <a:pt x="0" y="8796528"/>
                    <a:pt x="0" y="8674989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465" y="2933176"/>
            <a:ext cx="7211070" cy="4160042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8880" y="-2468880"/>
            <a:ext cx="6858000" cy="6858000"/>
            <a:chOff x="0" y="0"/>
            <a:chExt cx="9144000" cy="914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44000" cy="9144000"/>
            </a:xfrm>
            <a:custGeom>
              <a:avLst/>
              <a:gdLst/>
              <a:ahLst/>
              <a:cxnLst/>
              <a:rect l="l" t="t" r="r" b="b"/>
              <a:pathLst>
                <a:path w="9144000" h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C33CC6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813280" y="7132320"/>
            <a:ext cx="6035040" cy="6035040"/>
            <a:chOff x="0" y="0"/>
            <a:chExt cx="8046720" cy="8046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46720" cy="8046720"/>
            </a:xfrm>
            <a:custGeom>
              <a:avLst/>
              <a:gdLst/>
              <a:ahLst/>
              <a:cxnLst/>
              <a:rect l="l" t="t" r="r" b="b"/>
              <a:pathLst>
                <a:path w="8046720" h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</a:path>
              </a:pathLst>
            </a:custGeom>
            <a:solidFill>
              <a:srgbClr val="5700D8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CORE CONCEPTS DEMONSTRATED IN THE SCHEMA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Key SQL Features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0595" y="2596515"/>
            <a:ext cx="5299710" cy="2967990"/>
            <a:chOff x="0" y="0"/>
            <a:chExt cx="7066280" cy="39573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85875" y="3308985"/>
            <a:ext cx="1543050" cy="1543050"/>
            <a:chOff x="0" y="0"/>
            <a:chExt cx="2057400" cy="2057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8762" y="3551872"/>
            <a:ext cx="1057275" cy="1057275"/>
            <a:chOff x="0" y="0"/>
            <a:chExt cx="1409700" cy="14097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89938" y="3813048"/>
            <a:ext cx="534924" cy="534924"/>
            <a:chOff x="0" y="0"/>
            <a:chExt cx="713232" cy="713232"/>
          </a:xfrm>
        </p:grpSpPr>
        <p:sp>
          <p:nvSpPr>
            <p:cNvPr id="19" name="Freeform 19" descr="/home/claude/work/icons/filecode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880360" y="3291840"/>
            <a:ext cx="3086100" cy="548640"/>
            <a:chOff x="0" y="0"/>
            <a:chExt cx="411480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14800" cy="731520"/>
            </a:xfrm>
            <a:custGeom>
              <a:avLst/>
              <a:gdLst/>
              <a:ahLst/>
              <a:cxnLst/>
              <a:rect l="l" t="t" r="r" b="b"/>
              <a:pathLst>
                <a:path w="4114800" h="73152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4114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DDL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80360" y="3867912"/>
            <a:ext cx="3086100" cy="960120"/>
            <a:chOff x="0" y="0"/>
            <a:chExt cx="4114800" cy="12801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114800" cy="1280160"/>
            </a:xfrm>
            <a:custGeom>
              <a:avLst/>
              <a:gdLst/>
              <a:ahLst/>
              <a:cxnLst/>
              <a:rect l="l" t="t" r="r" b="b"/>
              <a:pathLst>
                <a:path w="4114800" h="128016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4114800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TABLE, TRIGGER and VIEW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74155" y="2596515"/>
            <a:ext cx="5299710" cy="2967990"/>
            <a:chOff x="0" y="0"/>
            <a:chExt cx="7066280" cy="39573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09435" y="3308985"/>
            <a:ext cx="1543050" cy="1543050"/>
            <a:chOff x="0" y="0"/>
            <a:chExt cx="2057400" cy="2057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52322" y="3551872"/>
            <a:ext cx="1057275" cy="1057275"/>
            <a:chOff x="0" y="0"/>
            <a:chExt cx="1409700" cy="14097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413498" y="3813048"/>
            <a:ext cx="534924" cy="534924"/>
            <a:chOff x="0" y="0"/>
            <a:chExt cx="713232" cy="713232"/>
          </a:xfrm>
        </p:grpSpPr>
        <p:sp>
          <p:nvSpPr>
            <p:cNvPr id="33" name="Freeform 33" descr="/home/claude/work/icons/edit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03920" y="3291840"/>
            <a:ext cx="3086100" cy="548640"/>
            <a:chOff x="0" y="0"/>
            <a:chExt cx="411480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114800" cy="731520"/>
            </a:xfrm>
            <a:custGeom>
              <a:avLst/>
              <a:gdLst/>
              <a:ahLst/>
              <a:cxnLst/>
              <a:rect l="l" t="t" r="r" b="b"/>
              <a:pathLst>
                <a:path w="4114800" h="73152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4114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DML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03920" y="3867912"/>
            <a:ext cx="3086100" cy="960120"/>
            <a:chOff x="0" y="0"/>
            <a:chExt cx="4114800" cy="12801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114800" cy="1280160"/>
            </a:xfrm>
            <a:custGeom>
              <a:avLst/>
              <a:gdLst/>
              <a:ahLst/>
              <a:cxnLst/>
              <a:rect l="l" t="t" r="r" b="b"/>
              <a:pathLst>
                <a:path w="4114800" h="128016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4114800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INSERT, UPDATE and TRUNCATE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197715" y="2596515"/>
            <a:ext cx="5299710" cy="2967990"/>
            <a:chOff x="0" y="0"/>
            <a:chExt cx="7066280" cy="39573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532995" y="3308985"/>
            <a:ext cx="1543050" cy="1543050"/>
            <a:chOff x="0" y="0"/>
            <a:chExt cx="2057400" cy="2057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775882" y="3551872"/>
            <a:ext cx="1057275" cy="1057275"/>
            <a:chOff x="0" y="0"/>
            <a:chExt cx="1409700" cy="14097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037058" y="3813048"/>
            <a:ext cx="534924" cy="534924"/>
            <a:chOff x="0" y="0"/>
            <a:chExt cx="713232" cy="713232"/>
          </a:xfrm>
        </p:grpSpPr>
        <p:sp>
          <p:nvSpPr>
            <p:cNvPr id="47" name="Freeform 47" descr="/home/claude/work/icons/search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127480" y="3291840"/>
            <a:ext cx="3086100" cy="548640"/>
            <a:chOff x="0" y="0"/>
            <a:chExt cx="4114800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114800" cy="731520"/>
            </a:xfrm>
            <a:custGeom>
              <a:avLst/>
              <a:gdLst/>
              <a:ahLst/>
              <a:cxnLst/>
              <a:rect l="l" t="t" r="r" b="b"/>
              <a:pathLst>
                <a:path w="4114800" h="73152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4114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DQL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127480" y="3867912"/>
            <a:ext cx="3086100" cy="960120"/>
            <a:chOff x="0" y="0"/>
            <a:chExt cx="4114800" cy="12801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114800" cy="1280160"/>
            </a:xfrm>
            <a:custGeom>
              <a:avLst/>
              <a:gdLst/>
              <a:ahLst/>
              <a:cxnLst/>
              <a:rect l="l" t="t" r="r" b="b"/>
              <a:pathLst>
                <a:path w="4114800" h="128016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4114800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SELECT with WHERE and GROUP BY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50595" y="5929503"/>
            <a:ext cx="5299710" cy="2967990"/>
            <a:chOff x="0" y="0"/>
            <a:chExt cx="7066280" cy="39573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85875" y="6641973"/>
            <a:ext cx="1543050" cy="1543050"/>
            <a:chOff x="0" y="0"/>
            <a:chExt cx="2057400" cy="2057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528762" y="6884860"/>
            <a:ext cx="1057275" cy="1057275"/>
            <a:chOff x="0" y="0"/>
            <a:chExt cx="1409700" cy="14097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789938" y="7146036"/>
            <a:ext cx="534924" cy="534924"/>
            <a:chOff x="0" y="0"/>
            <a:chExt cx="713232" cy="713232"/>
          </a:xfrm>
        </p:grpSpPr>
        <p:sp>
          <p:nvSpPr>
            <p:cNvPr id="61" name="Freeform 61" descr="/home/claude/work/icons/eye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880360" y="6624828"/>
            <a:ext cx="3086100" cy="548640"/>
            <a:chOff x="0" y="0"/>
            <a:chExt cx="4114800" cy="7315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114800" cy="731520"/>
            </a:xfrm>
            <a:custGeom>
              <a:avLst/>
              <a:gdLst/>
              <a:ahLst/>
              <a:cxnLst/>
              <a:rect l="l" t="t" r="r" b="b"/>
              <a:pathLst>
                <a:path w="4114800" h="73152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4114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Views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880360" y="7200900"/>
            <a:ext cx="3086100" cy="960120"/>
            <a:chOff x="0" y="0"/>
            <a:chExt cx="4114800" cy="128016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114800" cy="1280160"/>
            </a:xfrm>
            <a:custGeom>
              <a:avLst/>
              <a:gdLst/>
              <a:ahLst/>
              <a:cxnLst/>
              <a:rect l="l" t="t" r="r" b="b"/>
              <a:pathLst>
                <a:path w="4114800" h="128016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4114800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Reusable reporting queries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574155" y="5929503"/>
            <a:ext cx="5299710" cy="2967990"/>
            <a:chOff x="0" y="0"/>
            <a:chExt cx="7066280" cy="39573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909435" y="6641973"/>
            <a:ext cx="1543050" cy="1543050"/>
            <a:chOff x="0" y="0"/>
            <a:chExt cx="2057400" cy="20574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152322" y="6884860"/>
            <a:ext cx="1057275" cy="1057275"/>
            <a:chOff x="0" y="0"/>
            <a:chExt cx="1409700" cy="14097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413498" y="7146036"/>
            <a:ext cx="534924" cy="534924"/>
            <a:chOff x="0" y="0"/>
            <a:chExt cx="713232" cy="713232"/>
          </a:xfrm>
        </p:grpSpPr>
        <p:sp>
          <p:nvSpPr>
            <p:cNvPr id="75" name="Freeform 75" descr="/home/claude/work/icons/zap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503920" y="6624828"/>
            <a:ext cx="3086100" cy="548640"/>
            <a:chOff x="0" y="0"/>
            <a:chExt cx="411480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114800" cy="731520"/>
            </a:xfrm>
            <a:custGeom>
              <a:avLst/>
              <a:gdLst/>
              <a:ahLst/>
              <a:cxnLst/>
              <a:rect l="l" t="t" r="r" b="b"/>
              <a:pathLst>
                <a:path w="4114800" h="73152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4114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Triggers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503920" y="7200900"/>
            <a:ext cx="3086100" cy="960120"/>
            <a:chOff x="0" y="0"/>
            <a:chExt cx="4114800" cy="128016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114800" cy="1280160"/>
            </a:xfrm>
            <a:custGeom>
              <a:avLst/>
              <a:gdLst/>
              <a:ahLst/>
              <a:cxnLst/>
              <a:rect l="l" t="t" r="r" b="b"/>
              <a:pathLst>
                <a:path w="4114800" h="128016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4114800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Automated rating business rules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197715" y="5929503"/>
            <a:ext cx="5299710" cy="2967990"/>
            <a:chOff x="0" y="0"/>
            <a:chExt cx="7066280" cy="395732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2532995" y="6641973"/>
            <a:ext cx="1543050" cy="1543050"/>
            <a:chOff x="0" y="0"/>
            <a:chExt cx="2057400" cy="20574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775882" y="6884860"/>
            <a:ext cx="1057275" cy="1057275"/>
            <a:chOff x="0" y="0"/>
            <a:chExt cx="1409700" cy="14097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3037058" y="7146036"/>
            <a:ext cx="534924" cy="534924"/>
            <a:chOff x="0" y="0"/>
            <a:chExt cx="713232" cy="713232"/>
          </a:xfrm>
        </p:grpSpPr>
        <p:sp>
          <p:nvSpPr>
            <p:cNvPr id="89" name="Freeform 89" descr="/home/claude/work/icons/gitmerge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4127480" y="6624828"/>
            <a:ext cx="3086100" cy="548640"/>
            <a:chOff x="0" y="0"/>
            <a:chExt cx="4114800" cy="7315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114800" cy="731520"/>
            </a:xfrm>
            <a:custGeom>
              <a:avLst/>
              <a:gdLst/>
              <a:ahLst/>
              <a:cxnLst/>
              <a:rect l="l" t="t" r="r" b="b"/>
              <a:pathLst>
                <a:path w="4114800" h="731520">
                  <a:moveTo>
                    <a:pt x="0" y="0"/>
                  </a:moveTo>
                  <a:lnTo>
                    <a:pt x="4114800" y="0"/>
                  </a:lnTo>
                  <a:lnTo>
                    <a:pt x="411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03" b="-596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4114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Joins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4127480" y="7200900"/>
            <a:ext cx="3086100" cy="960120"/>
            <a:chOff x="0" y="0"/>
            <a:chExt cx="4114800" cy="128016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114800" cy="1280160"/>
            </a:xfrm>
            <a:custGeom>
              <a:avLst/>
              <a:gdLst/>
              <a:ahLst/>
              <a:cxnLst/>
              <a:rect l="l" t="t" r="r" b="b"/>
              <a:pathLst>
                <a:path w="4114800" h="128016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0" b="-126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0"/>
              <a:ext cx="4114800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INNER and LEFT JOIN across tables</a:t>
              </a:r>
            </a:p>
          </p:txBody>
        </p:sp>
      </p:grpSp>
      <p:pic>
        <p:nvPicPr>
          <p:cNvPr id="96" name="Picture 9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78840" y="5760720"/>
            <a:ext cx="7406640" cy="7406640"/>
            <a:chOff x="0" y="0"/>
            <a:chExt cx="9875520" cy="9875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75520" cy="9875520"/>
            </a:xfrm>
            <a:custGeom>
              <a:avLst/>
              <a:gdLst/>
              <a:ahLst/>
              <a:cxnLst/>
              <a:rect l="l" t="t" r="r" b="b"/>
              <a:pathLst>
                <a:path w="9875520" h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5700D8">
                <a:alpha val="1569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017520" y="-3017520"/>
            <a:ext cx="5486400" cy="5486400"/>
            <a:chOff x="0" y="0"/>
            <a:chExt cx="7315200" cy="731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33CC6">
                <a:alpha val="78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LIVE ANALYTICS FOR BUSINESS STAKEHOLDERS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Overview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120" y="2606040"/>
            <a:ext cx="7406640" cy="1165860"/>
            <a:chOff x="0" y="0"/>
            <a:chExt cx="9875520" cy="15544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75520" cy="1554480"/>
            </a:xfrm>
            <a:custGeom>
              <a:avLst/>
              <a:gdLst/>
              <a:ahLst/>
              <a:cxnLst/>
              <a:rect l="l" t="t" r="r" b="b"/>
              <a:pathLst>
                <a:path w="9875520" h="1554480">
                  <a:moveTo>
                    <a:pt x="0" y="0"/>
                  </a:moveTo>
                  <a:lnTo>
                    <a:pt x="9875520" y="0"/>
                  </a:lnTo>
                  <a:lnTo>
                    <a:pt x="98755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787" b="-7378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9875520" cy="1554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 eight-page Streamlit application gives stakeholders a live, visual window into the database.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71525" y="3789045"/>
            <a:ext cx="1337310" cy="1337310"/>
            <a:chOff x="0" y="0"/>
            <a:chExt cx="1783080" cy="17830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80" h="1783080">
                  <a:moveTo>
                    <a:pt x="0" y="891540"/>
                  </a:moveTo>
                  <a:cubicBezTo>
                    <a:pt x="0" y="399161"/>
                    <a:pt x="399161" y="0"/>
                    <a:pt x="891540" y="0"/>
                  </a:cubicBezTo>
                  <a:cubicBezTo>
                    <a:pt x="1383919" y="0"/>
                    <a:pt x="1783080" y="399161"/>
                    <a:pt x="1783080" y="891540"/>
                  </a:cubicBezTo>
                  <a:cubicBezTo>
                    <a:pt x="1783080" y="1383919"/>
                    <a:pt x="1383919" y="1783080"/>
                    <a:pt x="891540" y="1783080"/>
                  </a:cubicBezTo>
                  <a:cubicBezTo>
                    <a:pt x="399161" y="1783080"/>
                    <a:pt x="0" y="1383919"/>
                    <a:pt x="0" y="891540"/>
                  </a:cubicBezTo>
                  <a:close/>
                </a:path>
              </a:pathLst>
            </a:custGeom>
            <a:solidFill>
              <a:srgbClr val="A2BCFB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0123" y="3997642"/>
            <a:ext cx="920115" cy="920115"/>
            <a:chOff x="0" y="0"/>
            <a:chExt cx="1226820" cy="12268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26820" cy="1226820"/>
            </a:xfrm>
            <a:custGeom>
              <a:avLst/>
              <a:gdLst/>
              <a:ahLst/>
              <a:cxnLst/>
              <a:rect l="l" t="t" r="r" b="b"/>
              <a:pathLst>
                <a:path w="1226820" h="1226820">
                  <a:moveTo>
                    <a:pt x="0" y="613410"/>
                  </a:moveTo>
                  <a:cubicBezTo>
                    <a:pt x="0" y="274574"/>
                    <a:pt x="274574" y="0"/>
                    <a:pt x="613410" y="0"/>
                  </a:cubicBezTo>
                  <a:cubicBezTo>
                    <a:pt x="952246" y="0"/>
                    <a:pt x="1226820" y="274574"/>
                    <a:pt x="1226820" y="613410"/>
                  </a:cubicBezTo>
                  <a:cubicBezTo>
                    <a:pt x="1226820" y="952246"/>
                    <a:pt x="952246" y="1226820"/>
                    <a:pt x="613410" y="1226820"/>
                  </a:cubicBezTo>
                  <a:cubicBezTo>
                    <a:pt x="274574" y="1226820"/>
                    <a:pt x="0" y="952246"/>
                    <a:pt x="0" y="61341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A2BCF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8380" y="4225900"/>
            <a:ext cx="463601" cy="463601"/>
            <a:chOff x="0" y="0"/>
            <a:chExt cx="618134" cy="618134"/>
          </a:xfrm>
        </p:grpSpPr>
        <p:sp>
          <p:nvSpPr>
            <p:cNvPr id="20" name="Freeform 20" descr="/home/claude/work/icons/gauge.png"/>
            <p:cNvSpPr/>
            <p:nvPr/>
          </p:nvSpPr>
          <p:spPr>
            <a:xfrm>
              <a:off x="0" y="0"/>
              <a:ext cx="618109" cy="618109"/>
            </a:xfrm>
            <a:custGeom>
              <a:avLst/>
              <a:gdLst/>
              <a:ahLst/>
              <a:cxnLst/>
              <a:rect l="l" t="t" r="r" b="b"/>
              <a:pathLst>
                <a:path w="618109" h="618109">
                  <a:moveTo>
                    <a:pt x="0" y="0"/>
                  </a:moveTo>
                  <a:lnTo>
                    <a:pt x="618109" y="0"/>
                  </a:lnTo>
                  <a:lnTo>
                    <a:pt x="618109" y="618109"/>
                  </a:lnTo>
                  <a:lnTo>
                    <a:pt x="0" y="618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25980" y="3977640"/>
            <a:ext cx="6240780" cy="480060"/>
            <a:chOff x="0" y="0"/>
            <a:chExt cx="8321040" cy="6400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321040" cy="640080"/>
            </a:xfrm>
            <a:custGeom>
              <a:avLst/>
              <a:gdLst/>
              <a:ahLst/>
              <a:cxnLst/>
              <a:rect l="l" t="t" r="r" b="b"/>
              <a:pathLst>
                <a:path w="8321040" h="64008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832104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KPI Cards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25980" y="4457700"/>
            <a:ext cx="6240780" cy="480060"/>
            <a:chOff x="0" y="0"/>
            <a:chExt cx="8321040" cy="6400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321040" cy="640080"/>
            </a:xfrm>
            <a:custGeom>
              <a:avLst/>
              <a:gdLst/>
              <a:ahLst/>
              <a:cxnLst/>
              <a:rect l="l" t="t" r="r" b="b"/>
              <a:pathLst>
                <a:path w="8321040" h="64008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83210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Orders, revenue and average rating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71525" y="5229225"/>
            <a:ext cx="1337310" cy="1337310"/>
            <a:chOff x="0" y="0"/>
            <a:chExt cx="1783080" cy="17830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80" h="1783080">
                  <a:moveTo>
                    <a:pt x="0" y="891540"/>
                  </a:moveTo>
                  <a:cubicBezTo>
                    <a:pt x="0" y="399161"/>
                    <a:pt x="399161" y="0"/>
                    <a:pt x="891540" y="0"/>
                  </a:cubicBezTo>
                  <a:cubicBezTo>
                    <a:pt x="1383919" y="0"/>
                    <a:pt x="1783080" y="399161"/>
                    <a:pt x="1783080" y="891540"/>
                  </a:cubicBezTo>
                  <a:cubicBezTo>
                    <a:pt x="1783080" y="1383919"/>
                    <a:pt x="1383919" y="1783080"/>
                    <a:pt x="891540" y="1783080"/>
                  </a:cubicBezTo>
                  <a:cubicBezTo>
                    <a:pt x="399161" y="1783080"/>
                    <a:pt x="0" y="1383919"/>
                    <a:pt x="0" y="891540"/>
                  </a:cubicBezTo>
                  <a:close/>
                </a:path>
              </a:pathLst>
            </a:custGeom>
            <a:solidFill>
              <a:srgbClr val="A2BCFB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80123" y="5437822"/>
            <a:ext cx="920115" cy="920115"/>
            <a:chOff x="0" y="0"/>
            <a:chExt cx="1226820" cy="12268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26820" cy="1226820"/>
            </a:xfrm>
            <a:custGeom>
              <a:avLst/>
              <a:gdLst/>
              <a:ahLst/>
              <a:cxnLst/>
              <a:rect l="l" t="t" r="r" b="b"/>
              <a:pathLst>
                <a:path w="1226820" h="1226820">
                  <a:moveTo>
                    <a:pt x="0" y="613410"/>
                  </a:moveTo>
                  <a:cubicBezTo>
                    <a:pt x="0" y="274574"/>
                    <a:pt x="274574" y="0"/>
                    <a:pt x="613410" y="0"/>
                  </a:cubicBezTo>
                  <a:cubicBezTo>
                    <a:pt x="952246" y="0"/>
                    <a:pt x="1226820" y="274574"/>
                    <a:pt x="1226820" y="613410"/>
                  </a:cubicBezTo>
                  <a:cubicBezTo>
                    <a:pt x="1226820" y="952246"/>
                    <a:pt x="952246" y="1226820"/>
                    <a:pt x="613410" y="1226820"/>
                  </a:cubicBezTo>
                  <a:cubicBezTo>
                    <a:pt x="274574" y="1226820"/>
                    <a:pt x="0" y="952246"/>
                    <a:pt x="0" y="61341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A2BCF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08380" y="5666080"/>
            <a:ext cx="463601" cy="463601"/>
            <a:chOff x="0" y="0"/>
            <a:chExt cx="618134" cy="618134"/>
          </a:xfrm>
        </p:grpSpPr>
        <p:sp>
          <p:nvSpPr>
            <p:cNvPr id="32" name="Freeform 32" descr="/home/claude/work/icons/barchart.png"/>
            <p:cNvSpPr/>
            <p:nvPr/>
          </p:nvSpPr>
          <p:spPr>
            <a:xfrm>
              <a:off x="0" y="0"/>
              <a:ext cx="618109" cy="618109"/>
            </a:xfrm>
            <a:custGeom>
              <a:avLst/>
              <a:gdLst/>
              <a:ahLst/>
              <a:cxnLst/>
              <a:rect l="l" t="t" r="r" b="b"/>
              <a:pathLst>
                <a:path w="618109" h="618109">
                  <a:moveTo>
                    <a:pt x="0" y="0"/>
                  </a:moveTo>
                  <a:lnTo>
                    <a:pt x="618109" y="0"/>
                  </a:lnTo>
                  <a:lnTo>
                    <a:pt x="618109" y="618109"/>
                  </a:lnTo>
                  <a:lnTo>
                    <a:pt x="0" y="618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125980" y="5417820"/>
            <a:ext cx="6240780" cy="480060"/>
            <a:chOff x="0" y="0"/>
            <a:chExt cx="8321040" cy="6400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321040" cy="640080"/>
            </a:xfrm>
            <a:custGeom>
              <a:avLst/>
              <a:gdLst/>
              <a:ahLst/>
              <a:cxnLst/>
              <a:rect l="l" t="t" r="r" b="b"/>
              <a:pathLst>
                <a:path w="8321040" h="64008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832104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Interactive Charts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125980" y="5897880"/>
            <a:ext cx="6240780" cy="480060"/>
            <a:chOff x="0" y="0"/>
            <a:chExt cx="8321040" cy="6400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321040" cy="640080"/>
            </a:xfrm>
            <a:custGeom>
              <a:avLst/>
              <a:gdLst/>
              <a:ahLst/>
              <a:cxnLst/>
              <a:rect l="l" t="t" r="r" b="b"/>
              <a:pathLst>
                <a:path w="8321040" h="64008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83210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Trends, cuisine and payment splits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71525" y="6669405"/>
            <a:ext cx="1337310" cy="1337310"/>
            <a:chOff x="0" y="0"/>
            <a:chExt cx="1783080" cy="17830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783080" cy="1783080"/>
            </a:xfrm>
            <a:custGeom>
              <a:avLst/>
              <a:gdLst/>
              <a:ahLst/>
              <a:cxnLst/>
              <a:rect l="l" t="t" r="r" b="b"/>
              <a:pathLst>
                <a:path w="1783080" h="1783080">
                  <a:moveTo>
                    <a:pt x="0" y="891540"/>
                  </a:moveTo>
                  <a:cubicBezTo>
                    <a:pt x="0" y="399161"/>
                    <a:pt x="399161" y="0"/>
                    <a:pt x="891540" y="0"/>
                  </a:cubicBezTo>
                  <a:cubicBezTo>
                    <a:pt x="1383919" y="0"/>
                    <a:pt x="1783080" y="399161"/>
                    <a:pt x="1783080" y="891540"/>
                  </a:cubicBezTo>
                  <a:cubicBezTo>
                    <a:pt x="1783080" y="1383919"/>
                    <a:pt x="1383919" y="1783080"/>
                    <a:pt x="891540" y="1783080"/>
                  </a:cubicBezTo>
                  <a:cubicBezTo>
                    <a:pt x="399161" y="1783080"/>
                    <a:pt x="0" y="1383919"/>
                    <a:pt x="0" y="891540"/>
                  </a:cubicBezTo>
                  <a:close/>
                </a:path>
              </a:pathLst>
            </a:custGeom>
            <a:solidFill>
              <a:srgbClr val="A2BCFB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80123" y="6878003"/>
            <a:ext cx="920115" cy="920115"/>
            <a:chOff x="0" y="0"/>
            <a:chExt cx="1226820" cy="12268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26820" cy="1226820"/>
            </a:xfrm>
            <a:custGeom>
              <a:avLst/>
              <a:gdLst/>
              <a:ahLst/>
              <a:cxnLst/>
              <a:rect l="l" t="t" r="r" b="b"/>
              <a:pathLst>
                <a:path w="1226820" h="1226820">
                  <a:moveTo>
                    <a:pt x="0" y="613410"/>
                  </a:moveTo>
                  <a:cubicBezTo>
                    <a:pt x="0" y="274574"/>
                    <a:pt x="274574" y="0"/>
                    <a:pt x="613410" y="0"/>
                  </a:cubicBezTo>
                  <a:cubicBezTo>
                    <a:pt x="952246" y="0"/>
                    <a:pt x="1226820" y="274574"/>
                    <a:pt x="1226820" y="613410"/>
                  </a:cubicBezTo>
                  <a:cubicBezTo>
                    <a:pt x="1226820" y="952246"/>
                    <a:pt x="952246" y="1226820"/>
                    <a:pt x="613410" y="1226820"/>
                  </a:cubicBezTo>
                  <a:cubicBezTo>
                    <a:pt x="274574" y="1226820"/>
                    <a:pt x="0" y="952246"/>
                    <a:pt x="0" y="61341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A2BCF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08380" y="7106260"/>
            <a:ext cx="463601" cy="463601"/>
            <a:chOff x="0" y="0"/>
            <a:chExt cx="618134" cy="618134"/>
          </a:xfrm>
        </p:grpSpPr>
        <p:sp>
          <p:nvSpPr>
            <p:cNvPr id="44" name="Freeform 44" descr="/home/claude/work/icons/monitor.png"/>
            <p:cNvSpPr/>
            <p:nvPr/>
          </p:nvSpPr>
          <p:spPr>
            <a:xfrm>
              <a:off x="0" y="0"/>
              <a:ext cx="618109" cy="618109"/>
            </a:xfrm>
            <a:custGeom>
              <a:avLst/>
              <a:gdLst/>
              <a:ahLst/>
              <a:cxnLst/>
              <a:rect l="l" t="t" r="r" b="b"/>
              <a:pathLst>
                <a:path w="618109" h="618109">
                  <a:moveTo>
                    <a:pt x="0" y="0"/>
                  </a:moveTo>
                  <a:lnTo>
                    <a:pt x="618109" y="0"/>
                  </a:lnTo>
                  <a:lnTo>
                    <a:pt x="618109" y="618109"/>
                  </a:lnTo>
                  <a:lnTo>
                    <a:pt x="0" y="618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4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125980" y="6858000"/>
            <a:ext cx="6240780" cy="480060"/>
            <a:chOff x="0" y="0"/>
            <a:chExt cx="8321040" cy="6400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321040" cy="640080"/>
            </a:xfrm>
            <a:custGeom>
              <a:avLst/>
              <a:gdLst/>
              <a:ahLst/>
              <a:cxnLst/>
              <a:rect l="l" t="t" r="r" b="b"/>
              <a:pathLst>
                <a:path w="8321040" h="64008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832104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Live Data Views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125980" y="7338060"/>
            <a:ext cx="6240780" cy="480060"/>
            <a:chOff x="0" y="0"/>
            <a:chExt cx="8321040" cy="6400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321040" cy="640080"/>
            </a:xfrm>
            <a:custGeom>
              <a:avLst/>
              <a:gdLst/>
              <a:ahLst/>
              <a:cxnLst/>
              <a:rect l="l" t="t" r="r" b="b"/>
              <a:pathLst>
                <a:path w="8321040" h="64008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83210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Reporting views rendered in real time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9395460" y="5795010"/>
            <a:ext cx="7475220" cy="480060"/>
          </a:xfrm>
          <a:custGeom>
            <a:avLst/>
            <a:gdLst/>
            <a:ahLst/>
            <a:cxnLst/>
            <a:rect l="l" t="t" r="r" b="b"/>
            <a:pathLst>
              <a:path w="9966960" h="640080">
                <a:moveTo>
                  <a:pt x="0" y="0"/>
                </a:moveTo>
                <a:lnTo>
                  <a:pt x="9966960" y="0"/>
                </a:lnTo>
                <a:lnTo>
                  <a:pt x="9966960" y="640080"/>
                </a:lnTo>
                <a:lnTo>
                  <a:pt x="0" y="64008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53409" b="-25340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9" name="Freeform 59"/>
          <p:cNvSpPr/>
          <p:nvPr/>
        </p:nvSpPr>
        <p:spPr>
          <a:xfrm>
            <a:off x="9395460" y="6302502"/>
            <a:ext cx="7475220" cy="685800"/>
          </a:xfrm>
          <a:custGeom>
            <a:avLst/>
            <a:gdLst/>
            <a:ahLst/>
            <a:cxnLst/>
            <a:rect l="l" t="t" r="r" b="b"/>
            <a:pathLst>
              <a:path w="9966960" h="914400">
                <a:moveTo>
                  <a:pt x="0" y="0"/>
                </a:moveTo>
                <a:lnTo>
                  <a:pt x="9966960" y="0"/>
                </a:lnTo>
                <a:lnTo>
                  <a:pt x="9966960" y="914400"/>
                </a:lnTo>
                <a:lnTo>
                  <a:pt x="0" y="91440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62386" b="-16238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4" name="Group 12"/>
          <p:cNvGrpSpPr/>
          <p:nvPr/>
        </p:nvGrpSpPr>
        <p:grpSpPr>
          <a:xfrm>
            <a:off x="9982199" y="2796731"/>
            <a:ext cx="7467601" cy="4369879"/>
            <a:chOff x="0" y="0"/>
            <a:chExt cx="10541000" cy="8895080"/>
          </a:xfrm>
        </p:grpSpPr>
        <p:sp>
          <p:nvSpPr>
            <p:cNvPr id="55" name="Freeform 13"/>
            <p:cNvSpPr/>
            <p:nvPr/>
          </p:nvSpPr>
          <p:spPr>
            <a:xfrm>
              <a:off x="0" y="0"/>
              <a:ext cx="10541000" cy="8895080"/>
            </a:xfrm>
            <a:custGeom>
              <a:avLst/>
              <a:gdLst/>
              <a:ahLst/>
              <a:cxnLst/>
              <a:rect l="l" t="t" r="r" b="b"/>
              <a:pathLst>
                <a:path w="10541000" h="889508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320909" y="0"/>
                  </a:lnTo>
                  <a:cubicBezTo>
                    <a:pt x="10442448" y="0"/>
                    <a:pt x="10541000" y="98552"/>
                    <a:pt x="10541000" y="220091"/>
                  </a:cubicBezTo>
                  <a:lnTo>
                    <a:pt x="10541000" y="8674989"/>
                  </a:lnTo>
                  <a:cubicBezTo>
                    <a:pt x="10541000" y="8796528"/>
                    <a:pt x="10442448" y="8895080"/>
                    <a:pt x="10320909" y="8895080"/>
                  </a:cubicBezTo>
                  <a:lnTo>
                    <a:pt x="220091" y="8895080"/>
                  </a:lnTo>
                  <a:cubicBezTo>
                    <a:pt x="98552" y="8895080"/>
                    <a:pt x="0" y="8796528"/>
                    <a:pt x="0" y="8674989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51" name="Picture 5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018" y="2972062"/>
            <a:ext cx="7299961" cy="4113707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0600" y="-3703320"/>
            <a:ext cx="8778240" cy="8778240"/>
            <a:chOff x="0" y="0"/>
            <a:chExt cx="11704320" cy="11704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1704320"/>
            </a:xfrm>
            <a:custGeom>
              <a:avLst/>
              <a:gdLst/>
              <a:ahLst/>
              <a:cxnLst/>
              <a:rect l="l" t="t" r="r" b="b"/>
              <a:pathLst>
                <a:path w="11704320" h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5700D8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371600" y="7132320"/>
            <a:ext cx="5486400" cy="5486400"/>
            <a:chOff x="0" y="0"/>
            <a:chExt cx="7315200" cy="731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33CC6">
                <a:alpha val="78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THE DATA REVEALS TO OPERATORS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Business Insights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0595" y="2870835"/>
            <a:ext cx="3042056" cy="5368290"/>
            <a:chOff x="0" y="0"/>
            <a:chExt cx="4056075" cy="71577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56126" cy="7157720"/>
            </a:xfrm>
            <a:custGeom>
              <a:avLst/>
              <a:gdLst/>
              <a:ahLst/>
              <a:cxnLst/>
              <a:rect l="l" t="t" r="r" b="b"/>
              <a:pathLst>
                <a:path w="4056126" h="71577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835273" y="0"/>
                  </a:lnTo>
                  <a:cubicBezTo>
                    <a:pt x="3957193" y="0"/>
                    <a:pt x="4056126" y="98933"/>
                    <a:pt x="4056126" y="220853"/>
                  </a:cubicBezTo>
                  <a:lnTo>
                    <a:pt x="4056126" y="6936867"/>
                  </a:lnTo>
                  <a:cubicBezTo>
                    <a:pt x="4056126" y="7058787"/>
                    <a:pt x="3957193" y="7157720"/>
                    <a:pt x="3835273" y="7157720"/>
                  </a:cubicBezTo>
                  <a:lnTo>
                    <a:pt x="220853" y="7157720"/>
                  </a:lnTo>
                  <a:cubicBezTo>
                    <a:pt x="98933" y="7157720"/>
                    <a:pt x="0" y="7058787"/>
                    <a:pt x="0" y="69368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97228" y="3171825"/>
            <a:ext cx="1748790" cy="1748790"/>
            <a:chOff x="0" y="0"/>
            <a:chExt cx="2331720" cy="23317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31720" cy="2331720"/>
            </a:xfrm>
            <a:custGeom>
              <a:avLst/>
              <a:gdLst/>
              <a:ahLst/>
              <a:cxnLst/>
              <a:rect l="l" t="t" r="r" b="b"/>
              <a:pathLst>
                <a:path w="2331720" h="2331720">
                  <a:moveTo>
                    <a:pt x="0" y="1165860"/>
                  </a:moveTo>
                  <a:cubicBezTo>
                    <a:pt x="0" y="521970"/>
                    <a:pt x="521970" y="0"/>
                    <a:pt x="1165860" y="0"/>
                  </a:cubicBezTo>
                  <a:cubicBezTo>
                    <a:pt x="1809750" y="0"/>
                    <a:pt x="2331720" y="521970"/>
                    <a:pt x="2331720" y="1165860"/>
                  </a:cubicBezTo>
                  <a:cubicBezTo>
                    <a:pt x="2331720" y="1809750"/>
                    <a:pt x="1809750" y="2331720"/>
                    <a:pt x="1165860" y="2331720"/>
                  </a:cubicBezTo>
                  <a:cubicBezTo>
                    <a:pt x="521970" y="2331720"/>
                    <a:pt x="0" y="1809750"/>
                    <a:pt x="0" y="11658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74406" y="3449003"/>
            <a:ext cx="1194435" cy="1194435"/>
            <a:chOff x="0" y="0"/>
            <a:chExt cx="1592580" cy="15925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68500" y="3743096"/>
            <a:ext cx="606247" cy="606247"/>
            <a:chOff x="0" y="0"/>
            <a:chExt cx="808330" cy="808330"/>
          </a:xfrm>
        </p:grpSpPr>
        <p:sp>
          <p:nvSpPr>
            <p:cNvPr id="19" name="Freeform 19" descr="/home/claude/work/icons/trending.png"/>
            <p:cNvSpPr/>
            <p:nvPr/>
          </p:nvSpPr>
          <p:spPr>
            <a:xfrm>
              <a:off x="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16152" y="4983480"/>
            <a:ext cx="2510942" cy="93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Order Trends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3584" y="6012180"/>
            <a:ext cx="2456078" cy="196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30-day order volume trend line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275353" y="2870835"/>
            <a:ext cx="3042056" cy="5368290"/>
            <a:chOff x="0" y="0"/>
            <a:chExt cx="4056075" cy="71577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56126" cy="7157720"/>
            </a:xfrm>
            <a:custGeom>
              <a:avLst/>
              <a:gdLst/>
              <a:ahLst/>
              <a:cxnLst/>
              <a:rect l="l" t="t" r="r" b="b"/>
              <a:pathLst>
                <a:path w="4056126" h="71577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835273" y="0"/>
                  </a:lnTo>
                  <a:cubicBezTo>
                    <a:pt x="3957193" y="0"/>
                    <a:pt x="4056126" y="98933"/>
                    <a:pt x="4056126" y="220853"/>
                  </a:cubicBezTo>
                  <a:lnTo>
                    <a:pt x="4056126" y="6936867"/>
                  </a:lnTo>
                  <a:cubicBezTo>
                    <a:pt x="4056126" y="7058787"/>
                    <a:pt x="3957193" y="7157720"/>
                    <a:pt x="3835273" y="7157720"/>
                  </a:cubicBezTo>
                  <a:lnTo>
                    <a:pt x="220853" y="7157720"/>
                  </a:lnTo>
                  <a:cubicBezTo>
                    <a:pt x="98933" y="7157720"/>
                    <a:pt x="0" y="7058787"/>
                    <a:pt x="0" y="69368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921987" y="3171825"/>
            <a:ext cx="1748790" cy="1748790"/>
            <a:chOff x="0" y="0"/>
            <a:chExt cx="2331720" cy="23317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31720" cy="2331720"/>
            </a:xfrm>
            <a:custGeom>
              <a:avLst/>
              <a:gdLst/>
              <a:ahLst/>
              <a:cxnLst/>
              <a:rect l="l" t="t" r="r" b="b"/>
              <a:pathLst>
                <a:path w="2331720" h="2331720">
                  <a:moveTo>
                    <a:pt x="0" y="1165860"/>
                  </a:moveTo>
                  <a:cubicBezTo>
                    <a:pt x="0" y="521970"/>
                    <a:pt x="521970" y="0"/>
                    <a:pt x="1165860" y="0"/>
                  </a:cubicBezTo>
                  <a:cubicBezTo>
                    <a:pt x="1809750" y="0"/>
                    <a:pt x="2331720" y="521970"/>
                    <a:pt x="2331720" y="1165860"/>
                  </a:cubicBezTo>
                  <a:cubicBezTo>
                    <a:pt x="2331720" y="1809750"/>
                    <a:pt x="1809750" y="2331720"/>
                    <a:pt x="1165860" y="2331720"/>
                  </a:cubicBezTo>
                  <a:cubicBezTo>
                    <a:pt x="521970" y="2331720"/>
                    <a:pt x="0" y="1809750"/>
                    <a:pt x="0" y="11658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99164" y="3449003"/>
            <a:ext cx="1194435" cy="1194435"/>
            <a:chOff x="0" y="0"/>
            <a:chExt cx="1592580" cy="15925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493258" y="3743096"/>
            <a:ext cx="606247" cy="606247"/>
            <a:chOff x="0" y="0"/>
            <a:chExt cx="808330" cy="808330"/>
          </a:xfrm>
        </p:grpSpPr>
        <p:sp>
          <p:nvSpPr>
            <p:cNvPr id="29" name="Freeform 29" descr="/home/claude/work/icons/star.png"/>
            <p:cNvSpPr/>
            <p:nvPr/>
          </p:nvSpPr>
          <p:spPr>
            <a:xfrm>
              <a:off x="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540910" y="4983480"/>
            <a:ext cx="2510942" cy="93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Restaurant Performance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68342" y="6012180"/>
            <a:ext cx="2456078" cy="196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Ranked by rating and order count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600112" y="2870835"/>
            <a:ext cx="3042056" cy="5368290"/>
            <a:chOff x="0" y="0"/>
            <a:chExt cx="4056075" cy="71577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056126" cy="7157720"/>
            </a:xfrm>
            <a:custGeom>
              <a:avLst/>
              <a:gdLst/>
              <a:ahLst/>
              <a:cxnLst/>
              <a:rect l="l" t="t" r="r" b="b"/>
              <a:pathLst>
                <a:path w="4056126" h="71577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835273" y="0"/>
                  </a:lnTo>
                  <a:cubicBezTo>
                    <a:pt x="3957193" y="0"/>
                    <a:pt x="4056126" y="98933"/>
                    <a:pt x="4056126" y="220853"/>
                  </a:cubicBezTo>
                  <a:lnTo>
                    <a:pt x="4056126" y="6936867"/>
                  </a:lnTo>
                  <a:cubicBezTo>
                    <a:pt x="4056126" y="7058787"/>
                    <a:pt x="3957193" y="7157720"/>
                    <a:pt x="3835273" y="7157720"/>
                  </a:cubicBezTo>
                  <a:lnTo>
                    <a:pt x="220853" y="7157720"/>
                  </a:lnTo>
                  <a:cubicBezTo>
                    <a:pt x="98933" y="7157720"/>
                    <a:pt x="0" y="7058787"/>
                    <a:pt x="0" y="69368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246745" y="3171825"/>
            <a:ext cx="1748790" cy="1748790"/>
            <a:chOff x="0" y="0"/>
            <a:chExt cx="2331720" cy="23317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331720" cy="2331720"/>
            </a:xfrm>
            <a:custGeom>
              <a:avLst/>
              <a:gdLst/>
              <a:ahLst/>
              <a:cxnLst/>
              <a:rect l="l" t="t" r="r" b="b"/>
              <a:pathLst>
                <a:path w="2331720" h="2331720">
                  <a:moveTo>
                    <a:pt x="0" y="1165860"/>
                  </a:moveTo>
                  <a:cubicBezTo>
                    <a:pt x="0" y="521970"/>
                    <a:pt x="521970" y="0"/>
                    <a:pt x="1165860" y="0"/>
                  </a:cubicBezTo>
                  <a:cubicBezTo>
                    <a:pt x="1809750" y="0"/>
                    <a:pt x="2331720" y="521970"/>
                    <a:pt x="2331720" y="1165860"/>
                  </a:cubicBezTo>
                  <a:cubicBezTo>
                    <a:pt x="2331720" y="1809750"/>
                    <a:pt x="1809750" y="2331720"/>
                    <a:pt x="1165860" y="2331720"/>
                  </a:cubicBezTo>
                  <a:cubicBezTo>
                    <a:pt x="521970" y="2331720"/>
                    <a:pt x="0" y="1809750"/>
                    <a:pt x="0" y="11658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23922" y="3449003"/>
            <a:ext cx="1194435" cy="1194435"/>
            <a:chOff x="0" y="0"/>
            <a:chExt cx="1592580" cy="15925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818016" y="3743096"/>
            <a:ext cx="606247" cy="606247"/>
            <a:chOff x="0" y="0"/>
            <a:chExt cx="808330" cy="808330"/>
          </a:xfrm>
        </p:grpSpPr>
        <p:sp>
          <p:nvSpPr>
            <p:cNvPr id="39" name="Freeform 39" descr="/home/claude/work/icons/dollar.png"/>
            <p:cNvSpPr/>
            <p:nvPr/>
          </p:nvSpPr>
          <p:spPr>
            <a:xfrm>
              <a:off x="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7865669" y="4983480"/>
            <a:ext cx="2510942" cy="93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Analysis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893101" y="6012180"/>
            <a:ext cx="2456078" cy="196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Revenue broken down by cuisine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924870" y="2870835"/>
            <a:ext cx="3042056" cy="5368290"/>
            <a:chOff x="0" y="0"/>
            <a:chExt cx="4056075" cy="71577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056126" cy="7157720"/>
            </a:xfrm>
            <a:custGeom>
              <a:avLst/>
              <a:gdLst/>
              <a:ahLst/>
              <a:cxnLst/>
              <a:rect l="l" t="t" r="r" b="b"/>
              <a:pathLst>
                <a:path w="4056126" h="71577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835273" y="0"/>
                  </a:lnTo>
                  <a:cubicBezTo>
                    <a:pt x="3957193" y="0"/>
                    <a:pt x="4056126" y="98933"/>
                    <a:pt x="4056126" y="220853"/>
                  </a:cubicBezTo>
                  <a:lnTo>
                    <a:pt x="4056126" y="6936867"/>
                  </a:lnTo>
                  <a:cubicBezTo>
                    <a:pt x="4056126" y="7058787"/>
                    <a:pt x="3957193" y="7157720"/>
                    <a:pt x="3835273" y="7157720"/>
                  </a:cubicBezTo>
                  <a:lnTo>
                    <a:pt x="220853" y="7157720"/>
                  </a:lnTo>
                  <a:cubicBezTo>
                    <a:pt x="98933" y="7157720"/>
                    <a:pt x="0" y="7058787"/>
                    <a:pt x="0" y="69368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571503" y="3171825"/>
            <a:ext cx="1748790" cy="1748790"/>
            <a:chOff x="0" y="0"/>
            <a:chExt cx="2331720" cy="23317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331720" cy="2331720"/>
            </a:xfrm>
            <a:custGeom>
              <a:avLst/>
              <a:gdLst/>
              <a:ahLst/>
              <a:cxnLst/>
              <a:rect l="l" t="t" r="r" b="b"/>
              <a:pathLst>
                <a:path w="2331720" h="2331720">
                  <a:moveTo>
                    <a:pt x="0" y="1165860"/>
                  </a:moveTo>
                  <a:cubicBezTo>
                    <a:pt x="0" y="521970"/>
                    <a:pt x="521970" y="0"/>
                    <a:pt x="1165860" y="0"/>
                  </a:cubicBezTo>
                  <a:cubicBezTo>
                    <a:pt x="1809750" y="0"/>
                    <a:pt x="2331720" y="521970"/>
                    <a:pt x="2331720" y="1165860"/>
                  </a:cubicBezTo>
                  <a:cubicBezTo>
                    <a:pt x="2331720" y="1809750"/>
                    <a:pt x="1809750" y="2331720"/>
                    <a:pt x="1165860" y="2331720"/>
                  </a:cubicBezTo>
                  <a:cubicBezTo>
                    <a:pt x="521970" y="2331720"/>
                    <a:pt x="0" y="1809750"/>
                    <a:pt x="0" y="11658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848681" y="3449003"/>
            <a:ext cx="1194435" cy="1194435"/>
            <a:chOff x="0" y="0"/>
            <a:chExt cx="1592580" cy="15925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142775" y="3743096"/>
            <a:ext cx="606247" cy="606247"/>
            <a:chOff x="0" y="0"/>
            <a:chExt cx="808330" cy="808330"/>
          </a:xfrm>
        </p:grpSpPr>
        <p:sp>
          <p:nvSpPr>
            <p:cNvPr id="49" name="Freeform 49" descr="/home/claude/work/icons/checkcircle.png"/>
            <p:cNvSpPr/>
            <p:nvPr/>
          </p:nvSpPr>
          <p:spPr>
            <a:xfrm>
              <a:off x="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190427" y="4983480"/>
            <a:ext cx="2510942" cy="93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Ratings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17859" y="6012180"/>
            <a:ext cx="2456078" cy="196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Automated trigger-based recalculation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4249629" y="2870835"/>
            <a:ext cx="3042056" cy="5368290"/>
            <a:chOff x="0" y="0"/>
            <a:chExt cx="4056075" cy="71577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056126" cy="7157720"/>
            </a:xfrm>
            <a:custGeom>
              <a:avLst/>
              <a:gdLst/>
              <a:ahLst/>
              <a:cxnLst/>
              <a:rect l="l" t="t" r="r" b="b"/>
              <a:pathLst>
                <a:path w="4056126" h="71577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835273" y="0"/>
                  </a:lnTo>
                  <a:cubicBezTo>
                    <a:pt x="3957193" y="0"/>
                    <a:pt x="4056126" y="98933"/>
                    <a:pt x="4056126" y="220853"/>
                  </a:cubicBezTo>
                  <a:lnTo>
                    <a:pt x="4056126" y="6936867"/>
                  </a:lnTo>
                  <a:cubicBezTo>
                    <a:pt x="4056126" y="7058787"/>
                    <a:pt x="3957193" y="7157720"/>
                    <a:pt x="3835273" y="7157720"/>
                  </a:cubicBezTo>
                  <a:lnTo>
                    <a:pt x="220853" y="7157720"/>
                  </a:lnTo>
                  <a:cubicBezTo>
                    <a:pt x="98933" y="7157720"/>
                    <a:pt x="0" y="7058787"/>
                    <a:pt x="0" y="69368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896262" y="3171825"/>
            <a:ext cx="1748790" cy="1748790"/>
            <a:chOff x="0" y="0"/>
            <a:chExt cx="2331720" cy="23317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331720" cy="2331720"/>
            </a:xfrm>
            <a:custGeom>
              <a:avLst/>
              <a:gdLst/>
              <a:ahLst/>
              <a:cxnLst/>
              <a:rect l="l" t="t" r="r" b="b"/>
              <a:pathLst>
                <a:path w="2331720" h="2331720">
                  <a:moveTo>
                    <a:pt x="0" y="1165860"/>
                  </a:moveTo>
                  <a:cubicBezTo>
                    <a:pt x="0" y="521970"/>
                    <a:pt x="521970" y="0"/>
                    <a:pt x="1165860" y="0"/>
                  </a:cubicBezTo>
                  <a:cubicBezTo>
                    <a:pt x="1809750" y="0"/>
                    <a:pt x="2331720" y="521970"/>
                    <a:pt x="2331720" y="1165860"/>
                  </a:cubicBezTo>
                  <a:cubicBezTo>
                    <a:pt x="2331720" y="1809750"/>
                    <a:pt x="1809750" y="2331720"/>
                    <a:pt x="1165860" y="2331720"/>
                  </a:cubicBezTo>
                  <a:cubicBezTo>
                    <a:pt x="521970" y="2331720"/>
                    <a:pt x="0" y="1809750"/>
                    <a:pt x="0" y="11658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173439" y="3449003"/>
            <a:ext cx="1194435" cy="1194435"/>
            <a:chOff x="0" y="0"/>
            <a:chExt cx="1592580" cy="15925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5467533" y="3743096"/>
            <a:ext cx="606247" cy="606247"/>
            <a:chOff x="0" y="0"/>
            <a:chExt cx="808330" cy="808330"/>
          </a:xfrm>
        </p:grpSpPr>
        <p:sp>
          <p:nvSpPr>
            <p:cNvPr id="59" name="Freeform 59" descr="/home/claude/work/icons/truck.png"/>
            <p:cNvSpPr/>
            <p:nvPr/>
          </p:nvSpPr>
          <p:spPr>
            <a:xfrm>
              <a:off x="0" y="0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4515186" y="4983480"/>
            <a:ext cx="2510942" cy="93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Delivery Monitoring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542618" y="6012180"/>
            <a:ext cx="2456078" cy="196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Live pending-delivery tracking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06040" y="5897880"/>
            <a:ext cx="7132320" cy="7132320"/>
            <a:chOff x="0" y="0"/>
            <a:chExt cx="9509760" cy="9509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9760" cy="9509760"/>
            </a:xfrm>
            <a:custGeom>
              <a:avLst/>
              <a:gdLst/>
              <a:ahLst/>
              <a:cxnLst/>
              <a:rect l="l" t="t" r="r" b="b"/>
              <a:pathLst>
                <a:path w="9509760" h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C33CC6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813280" y="-2743200"/>
            <a:ext cx="6035040" cy="6035040"/>
            <a:chOff x="0" y="0"/>
            <a:chExt cx="8046720" cy="8046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46720" cy="8046720"/>
            </a:xfrm>
            <a:custGeom>
              <a:avLst/>
              <a:gdLst/>
              <a:ahLst/>
              <a:cxnLst/>
              <a:rect l="l" t="t" r="r" b="b"/>
              <a:pathLst>
                <a:path w="8046720" h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</a:path>
              </a:pathLst>
            </a:custGeom>
            <a:solidFill>
              <a:srgbClr val="5700D8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HIGHLIGHTS OF THE PLATFORM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Key Features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0595" y="2596515"/>
            <a:ext cx="5299710" cy="2967990"/>
            <a:chOff x="0" y="0"/>
            <a:chExt cx="7066280" cy="39573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28925" y="2794635"/>
            <a:ext cx="1543050" cy="1543050"/>
            <a:chOff x="0" y="0"/>
            <a:chExt cx="2057400" cy="2057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071812" y="3037522"/>
            <a:ext cx="1057275" cy="1057275"/>
            <a:chOff x="0" y="0"/>
            <a:chExt cx="1409700" cy="14097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32988" y="3298698"/>
            <a:ext cx="534924" cy="534924"/>
            <a:chOff x="0" y="0"/>
            <a:chExt cx="713232" cy="713232"/>
          </a:xfrm>
        </p:grpSpPr>
        <p:sp>
          <p:nvSpPr>
            <p:cNvPr id="19" name="Freeform 19" descr="/home/claude/work/icons/gauge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4440" y="4361688"/>
            <a:ext cx="4732020" cy="548640"/>
            <a:chOff x="0" y="0"/>
            <a:chExt cx="630936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09360" cy="731520"/>
            </a:xfrm>
            <a:custGeom>
              <a:avLst/>
              <a:gdLst/>
              <a:ahLst/>
              <a:cxnLst/>
              <a:rect l="l" t="t" r="r" b="b"/>
              <a:pathLst>
                <a:path w="6309360" h="73152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058" b="-1180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63093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Executive KPI Dashboard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03020" y="4910328"/>
            <a:ext cx="4594860" cy="617220"/>
            <a:chOff x="0" y="0"/>
            <a:chExt cx="6126480" cy="8229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126480" cy="822960"/>
            </a:xfrm>
            <a:custGeom>
              <a:avLst/>
              <a:gdLst/>
              <a:ahLst/>
              <a:cxnLst/>
              <a:rect l="l" t="t" r="r" b="b"/>
              <a:pathLst>
                <a:path w="6126480" h="82296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055" b="-950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612648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Instant snapshot of platform health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74155" y="2596515"/>
            <a:ext cx="5299710" cy="2967990"/>
            <a:chOff x="0" y="0"/>
            <a:chExt cx="7066280" cy="39573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452485" y="2794635"/>
            <a:ext cx="1543050" cy="1543050"/>
            <a:chOff x="0" y="0"/>
            <a:chExt cx="2057400" cy="2057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A2BCFB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695372" y="3037522"/>
            <a:ext cx="1057275" cy="1057275"/>
            <a:chOff x="0" y="0"/>
            <a:chExt cx="1409700" cy="14097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A2BCF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56548" y="3298698"/>
            <a:ext cx="534924" cy="534924"/>
            <a:chOff x="0" y="0"/>
            <a:chExt cx="713232" cy="713232"/>
          </a:xfrm>
        </p:grpSpPr>
        <p:sp>
          <p:nvSpPr>
            <p:cNvPr id="33" name="Freeform 33" descr="/home/claude/work/icons/zap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58000" y="4361688"/>
            <a:ext cx="4732020" cy="548640"/>
            <a:chOff x="0" y="0"/>
            <a:chExt cx="630936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309360" cy="731520"/>
            </a:xfrm>
            <a:custGeom>
              <a:avLst/>
              <a:gdLst/>
              <a:ahLst/>
              <a:cxnLst/>
              <a:rect l="l" t="t" r="r" b="b"/>
              <a:pathLst>
                <a:path w="6309360" h="73152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058" b="-1180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63093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Trigger-Based Automation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926580" y="4910328"/>
            <a:ext cx="4594860" cy="617220"/>
            <a:chOff x="0" y="0"/>
            <a:chExt cx="6126480" cy="8229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126480" cy="822960"/>
            </a:xfrm>
            <a:custGeom>
              <a:avLst/>
              <a:gdLst/>
              <a:ahLst/>
              <a:cxnLst/>
              <a:rect l="l" t="t" r="r" b="b"/>
              <a:pathLst>
                <a:path w="6126480" h="82296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055" b="-950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612648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Ratings update without app code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197715" y="2596515"/>
            <a:ext cx="5299710" cy="2967990"/>
            <a:chOff x="0" y="0"/>
            <a:chExt cx="7066280" cy="39573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076045" y="2794635"/>
            <a:ext cx="1543050" cy="1543050"/>
            <a:chOff x="0" y="0"/>
            <a:chExt cx="2057400" cy="2057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318932" y="3037522"/>
            <a:ext cx="1057275" cy="1057275"/>
            <a:chOff x="0" y="0"/>
            <a:chExt cx="1409700" cy="14097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580108" y="3298698"/>
            <a:ext cx="534924" cy="534924"/>
            <a:chOff x="0" y="0"/>
            <a:chExt cx="713232" cy="713232"/>
          </a:xfrm>
        </p:grpSpPr>
        <p:sp>
          <p:nvSpPr>
            <p:cNvPr id="47" name="Freeform 47" descr="/home/claude/work/icons/eye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481560" y="4361688"/>
            <a:ext cx="4732020" cy="548640"/>
            <a:chOff x="0" y="0"/>
            <a:chExt cx="6309360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309360" cy="731520"/>
            </a:xfrm>
            <a:custGeom>
              <a:avLst/>
              <a:gdLst/>
              <a:ahLst/>
              <a:cxnLst/>
              <a:rect l="l" t="t" r="r" b="b"/>
              <a:pathLst>
                <a:path w="6309360" h="73152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058" b="-1180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63093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Reusable Reporting Views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550140" y="4910328"/>
            <a:ext cx="4594860" cy="617220"/>
            <a:chOff x="0" y="0"/>
            <a:chExt cx="6126480" cy="8229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126480" cy="822960"/>
            </a:xfrm>
            <a:custGeom>
              <a:avLst/>
              <a:gdLst/>
              <a:ahLst/>
              <a:cxnLst/>
              <a:rect l="l" t="t" r="r" b="b"/>
              <a:pathLst>
                <a:path w="6126480" h="82296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055" b="-950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612648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Three SQL views power live pages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50595" y="5929503"/>
            <a:ext cx="5299710" cy="2967990"/>
            <a:chOff x="0" y="0"/>
            <a:chExt cx="7066280" cy="39573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828925" y="6127623"/>
            <a:ext cx="1543050" cy="1543050"/>
            <a:chOff x="0" y="0"/>
            <a:chExt cx="2057400" cy="2057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A2BCFB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071812" y="6370510"/>
            <a:ext cx="1057275" cy="1057275"/>
            <a:chOff x="0" y="0"/>
            <a:chExt cx="1409700" cy="14097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A2BCF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332988" y="6631686"/>
            <a:ext cx="534924" cy="534924"/>
            <a:chOff x="0" y="0"/>
            <a:chExt cx="713232" cy="713232"/>
          </a:xfrm>
        </p:grpSpPr>
        <p:sp>
          <p:nvSpPr>
            <p:cNvPr id="61" name="Freeform 61" descr="/home/claude/work/icons/terminal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34440" y="7694676"/>
            <a:ext cx="4732020" cy="548640"/>
            <a:chOff x="0" y="0"/>
            <a:chExt cx="6309360" cy="7315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309360" cy="731520"/>
            </a:xfrm>
            <a:custGeom>
              <a:avLst/>
              <a:gdLst/>
              <a:ahLst/>
              <a:cxnLst/>
              <a:rect l="l" t="t" r="r" b="b"/>
              <a:pathLst>
                <a:path w="6309360" h="73152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058" b="-1180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63093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Safe SQL Console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03020" y="8243316"/>
            <a:ext cx="4594860" cy="617220"/>
            <a:chOff x="0" y="0"/>
            <a:chExt cx="6126480" cy="82296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126480" cy="822960"/>
            </a:xfrm>
            <a:custGeom>
              <a:avLst/>
              <a:gdLst/>
              <a:ahLst/>
              <a:cxnLst/>
              <a:rect l="l" t="t" r="r" b="b"/>
              <a:pathLst>
                <a:path w="6126480" h="82296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055" b="-950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612648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SELECT-only ad-hoc query access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574155" y="5929503"/>
            <a:ext cx="5299710" cy="2967990"/>
            <a:chOff x="0" y="0"/>
            <a:chExt cx="7066280" cy="39573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452485" y="6127623"/>
            <a:ext cx="1543050" cy="1543050"/>
            <a:chOff x="0" y="0"/>
            <a:chExt cx="2057400" cy="20574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695372" y="6370510"/>
            <a:ext cx="1057275" cy="1057275"/>
            <a:chOff x="0" y="0"/>
            <a:chExt cx="1409700" cy="14097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956548" y="6631686"/>
            <a:ext cx="534924" cy="534924"/>
            <a:chOff x="0" y="0"/>
            <a:chExt cx="713232" cy="713232"/>
          </a:xfrm>
        </p:grpSpPr>
        <p:sp>
          <p:nvSpPr>
            <p:cNvPr id="75" name="Freeform 75" descr="/home/claude/work/icons/table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858000" y="7694676"/>
            <a:ext cx="4732020" cy="548640"/>
            <a:chOff x="0" y="0"/>
            <a:chExt cx="630936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309360" cy="731520"/>
            </a:xfrm>
            <a:custGeom>
              <a:avLst/>
              <a:gdLst/>
              <a:ahLst/>
              <a:cxnLst/>
              <a:rect l="l" t="t" r="r" b="b"/>
              <a:pathLst>
                <a:path w="6309360" h="73152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058" b="-1180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63093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Raw Table Browser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926580" y="8243316"/>
            <a:ext cx="4594860" cy="617220"/>
            <a:chOff x="0" y="0"/>
            <a:chExt cx="6126480" cy="82296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126480" cy="822960"/>
            </a:xfrm>
            <a:custGeom>
              <a:avLst/>
              <a:gdLst/>
              <a:ahLst/>
              <a:cxnLst/>
              <a:rect l="l" t="t" r="r" b="b"/>
              <a:pathLst>
                <a:path w="6126480" h="82296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055" b="-950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612648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Inspect all eleven tables directly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197715" y="5929503"/>
            <a:ext cx="5299710" cy="2967990"/>
            <a:chOff x="0" y="0"/>
            <a:chExt cx="7066280" cy="395732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066280" cy="3957320"/>
            </a:xfrm>
            <a:custGeom>
              <a:avLst/>
              <a:gdLst/>
              <a:ahLst/>
              <a:cxnLst/>
              <a:rect l="l" t="t" r="r" b="b"/>
              <a:pathLst>
                <a:path w="7066280" h="39573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845427" y="0"/>
                  </a:lnTo>
                  <a:cubicBezTo>
                    <a:pt x="6967347" y="0"/>
                    <a:pt x="7066280" y="98933"/>
                    <a:pt x="7066280" y="220853"/>
                  </a:cubicBezTo>
                  <a:lnTo>
                    <a:pt x="7066280" y="3736467"/>
                  </a:lnTo>
                  <a:cubicBezTo>
                    <a:pt x="7066280" y="3858387"/>
                    <a:pt x="6967347" y="3957320"/>
                    <a:pt x="6845427" y="3957320"/>
                  </a:cubicBezTo>
                  <a:lnTo>
                    <a:pt x="220853" y="3957320"/>
                  </a:lnTo>
                  <a:cubicBezTo>
                    <a:pt x="98933" y="3957320"/>
                    <a:pt x="0" y="3858387"/>
                    <a:pt x="0" y="3736467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4076045" y="6127623"/>
            <a:ext cx="1543050" cy="1543050"/>
            <a:chOff x="0" y="0"/>
            <a:chExt cx="2057400" cy="20574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cubicBezTo>
                    <a:pt x="0" y="460502"/>
                    <a:pt x="460502" y="0"/>
                    <a:pt x="1028700" y="0"/>
                  </a:cubicBezTo>
                  <a:cubicBezTo>
                    <a:pt x="1596898" y="0"/>
                    <a:pt x="2057400" y="460502"/>
                    <a:pt x="2057400" y="1028700"/>
                  </a:cubicBezTo>
                  <a:cubicBezTo>
                    <a:pt x="2057400" y="1596898"/>
                    <a:pt x="1596898" y="2057400"/>
                    <a:pt x="1028700" y="2057400"/>
                  </a:cubicBezTo>
                  <a:cubicBezTo>
                    <a:pt x="460502" y="2057400"/>
                    <a:pt x="0" y="1596898"/>
                    <a:pt x="0" y="1028700"/>
                  </a:cubicBezTo>
                  <a:close/>
                </a:path>
              </a:pathLst>
            </a:custGeom>
            <a:solidFill>
              <a:srgbClr val="A2BCFB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4318932" y="6370510"/>
            <a:ext cx="1057275" cy="1057275"/>
            <a:chOff x="0" y="0"/>
            <a:chExt cx="1409700" cy="14097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409700" cy="1409700"/>
            </a:xfrm>
            <a:custGeom>
              <a:avLst/>
              <a:gdLst/>
              <a:ahLst/>
              <a:cxnLst/>
              <a:rect l="l" t="t" r="r" b="b"/>
              <a:pathLst>
                <a:path w="1409700" h="1409700">
                  <a:moveTo>
                    <a:pt x="0" y="704850"/>
                  </a:moveTo>
                  <a:cubicBezTo>
                    <a:pt x="0" y="315595"/>
                    <a:pt x="315595" y="0"/>
                    <a:pt x="704850" y="0"/>
                  </a:cubicBezTo>
                  <a:cubicBezTo>
                    <a:pt x="1094105" y="0"/>
                    <a:pt x="1409700" y="315595"/>
                    <a:pt x="1409700" y="704850"/>
                  </a:cubicBezTo>
                  <a:cubicBezTo>
                    <a:pt x="1409700" y="1094105"/>
                    <a:pt x="1094105" y="1409700"/>
                    <a:pt x="704850" y="1409700"/>
                  </a:cubicBezTo>
                  <a:cubicBezTo>
                    <a:pt x="315595" y="1409700"/>
                    <a:pt x="0" y="1094105"/>
                    <a:pt x="0" y="70485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A2BCF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4580108" y="6631686"/>
            <a:ext cx="534924" cy="534924"/>
            <a:chOff x="0" y="0"/>
            <a:chExt cx="713232" cy="713232"/>
          </a:xfrm>
        </p:grpSpPr>
        <p:sp>
          <p:nvSpPr>
            <p:cNvPr id="89" name="Freeform 89" descr="/home/claude/work/icons/network.png"/>
            <p:cNvSpPr/>
            <p:nvPr/>
          </p:nvSpPr>
          <p:spPr>
            <a:xfrm>
              <a:off x="0" y="0"/>
              <a:ext cx="713232" cy="713232"/>
            </a:xfrm>
            <a:custGeom>
              <a:avLst/>
              <a:gdLst/>
              <a:ahLst/>
              <a:cxnLst/>
              <a:rect l="l" t="t" r="r" b="b"/>
              <a:pathLst>
                <a:path w="713232" h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2481560" y="7694676"/>
            <a:ext cx="4732020" cy="548640"/>
            <a:chOff x="0" y="0"/>
            <a:chExt cx="6309360" cy="7315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6309360" cy="731520"/>
            </a:xfrm>
            <a:custGeom>
              <a:avLst/>
              <a:gdLst/>
              <a:ahLst/>
              <a:cxnLst/>
              <a:rect l="l" t="t" r="r" b="b"/>
              <a:pathLst>
                <a:path w="6309360" h="73152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058" b="-1180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630936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In-App ER Model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2550140" y="8243316"/>
            <a:ext cx="4594860" cy="617220"/>
            <a:chOff x="0" y="0"/>
            <a:chExt cx="6126480" cy="82296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126480" cy="822960"/>
            </a:xfrm>
            <a:custGeom>
              <a:avLst/>
              <a:gdLst/>
              <a:ahLst/>
              <a:cxnLst/>
              <a:rect l="l" t="t" r="r" b="b"/>
              <a:pathLst>
                <a:path w="6126480" h="82296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055" b="-950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0"/>
              <a:ext cx="612648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Schema and trigger flow explained</a:t>
              </a:r>
            </a:p>
          </p:txBody>
        </p:sp>
      </p:grpSp>
      <p:pic>
        <p:nvPicPr>
          <p:cNvPr id="96" name="Picture 9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78840" y="-2880360"/>
            <a:ext cx="7406640" cy="7406640"/>
            <a:chOff x="0" y="0"/>
            <a:chExt cx="9875520" cy="9875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75520" cy="9875520"/>
            </a:xfrm>
            <a:custGeom>
              <a:avLst/>
              <a:gdLst/>
              <a:ahLst/>
              <a:cxnLst/>
              <a:rect l="l" t="t" r="r" b="b"/>
              <a:pathLst>
                <a:path w="9875520" h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5700D8">
                <a:alpha val="1569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2468880" y="7269480"/>
            <a:ext cx="5486400" cy="5486400"/>
            <a:chOff x="0" y="0"/>
            <a:chExt cx="7315200" cy="731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33CC6">
                <a:alpha val="78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WHERE THE PROJECT STANDS, AND WHAT'S NEXT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Advantages &amp; Future Scope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0595" y="2596515"/>
            <a:ext cx="7905750" cy="6671310"/>
            <a:chOff x="0" y="0"/>
            <a:chExt cx="10541000" cy="88950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41000" cy="8895080"/>
            </a:xfrm>
            <a:custGeom>
              <a:avLst/>
              <a:gdLst/>
              <a:ahLst/>
              <a:cxnLst/>
              <a:rect l="l" t="t" r="r" b="b"/>
              <a:pathLst>
                <a:path w="10541000" h="889508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320909" y="0"/>
                  </a:lnTo>
                  <a:cubicBezTo>
                    <a:pt x="10442448" y="0"/>
                    <a:pt x="10541000" y="98552"/>
                    <a:pt x="10541000" y="220091"/>
                  </a:cubicBezTo>
                  <a:lnTo>
                    <a:pt x="10541000" y="8674989"/>
                  </a:lnTo>
                  <a:cubicBezTo>
                    <a:pt x="10541000" y="8796528"/>
                    <a:pt x="10442448" y="8895080"/>
                    <a:pt x="10320909" y="8895080"/>
                  </a:cubicBezTo>
                  <a:lnTo>
                    <a:pt x="220091" y="8895080"/>
                  </a:lnTo>
                  <a:cubicBezTo>
                    <a:pt x="98552" y="8895080"/>
                    <a:pt x="0" y="8796528"/>
                    <a:pt x="0" y="8674989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4440" y="2811780"/>
            <a:ext cx="1234440" cy="1234440"/>
            <a:chOff x="0" y="0"/>
            <a:chExt cx="1645920" cy="16459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22C55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25892" y="3003233"/>
            <a:ext cx="851535" cy="851535"/>
            <a:chOff x="0" y="0"/>
            <a:chExt cx="1135380" cy="11353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5380" cy="1135380"/>
            </a:xfrm>
            <a:custGeom>
              <a:avLst/>
              <a:gdLst/>
              <a:ahLst/>
              <a:cxnLst/>
              <a:rect l="l" t="t" r="r" b="b"/>
              <a:pathLst>
                <a:path w="1135380" h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37690" y="3215030"/>
            <a:ext cx="427939" cy="427939"/>
            <a:chOff x="0" y="0"/>
            <a:chExt cx="570586" cy="570586"/>
          </a:xfrm>
        </p:grpSpPr>
        <p:sp>
          <p:nvSpPr>
            <p:cNvPr id="19" name="Freeform 19" descr="/home/claude/work/icons/checkcirclegreen.png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68880" y="3044952"/>
            <a:ext cx="6103620" cy="754380"/>
            <a:chOff x="0" y="0"/>
            <a:chExt cx="8138160" cy="10058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38160" cy="1005840"/>
            </a:xfrm>
            <a:custGeom>
              <a:avLst/>
              <a:gdLst/>
              <a:ahLst/>
              <a:cxnLst/>
              <a:rect l="l" t="t" r="r" b="b"/>
              <a:pathLst>
                <a:path w="8138160" h="1005840">
                  <a:moveTo>
                    <a:pt x="0" y="0"/>
                  </a:moveTo>
                  <a:lnTo>
                    <a:pt x="8138160" y="0"/>
                  </a:lnTo>
                  <a:lnTo>
                    <a:pt x="8138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651" b="-1076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813816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Advantages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08760" y="4306824"/>
            <a:ext cx="123444" cy="123444"/>
            <a:chOff x="0" y="0"/>
            <a:chExt cx="164592" cy="1645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2C55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943100" y="4109847"/>
            <a:ext cx="633222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Fully normalized schema with referential integrity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08760" y="5294376"/>
            <a:ext cx="123444" cy="123444"/>
            <a:chOff x="0" y="0"/>
            <a:chExt cx="164592" cy="164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2C55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943100" y="5097399"/>
            <a:ext cx="633222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Rating logic automated entirely via triggers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508760" y="6281928"/>
            <a:ext cx="123444" cy="123444"/>
            <a:chOff x="0" y="0"/>
            <a:chExt cx="164592" cy="1645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2C55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943100" y="6084951"/>
            <a:ext cx="633222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Reusable SQL Views decoupled from app code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508760" y="7269480"/>
            <a:ext cx="123444" cy="123444"/>
            <a:chOff x="0" y="0"/>
            <a:chExt cx="164592" cy="164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2C55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943100" y="7072503"/>
            <a:ext cx="633222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Real-time dashboard for non-technical users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508760" y="8257032"/>
            <a:ext cx="123444" cy="123444"/>
            <a:chOff x="0" y="0"/>
            <a:chExt cx="164592" cy="164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2C55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943100" y="8060055"/>
            <a:ext cx="633222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Safe, read-only ad-hoc SQL console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385935" y="2596515"/>
            <a:ext cx="7905750" cy="6671310"/>
            <a:chOff x="0" y="0"/>
            <a:chExt cx="10541000" cy="88950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541000" cy="8895080"/>
            </a:xfrm>
            <a:custGeom>
              <a:avLst/>
              <a:gdLst/>
              <a:ahLst/>
              <a:cxnLst/>
              <a:rect l="l" t="t" r="r" b="b"/>
              <a:pathLst>
                <a:path w="10541000" h="889508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320909" y="0"/>
                  </a:lnTo>
                  <a:cubicBezTo>
                    <a:pt x="10442448" y="0"/>
                    <a:pt x="10541000" y="98552"/>
                    <a:pt x="10541000" y="220091"/>
                  </a:cubicBezTo>
                  <a:lnTo>
                    <a:pt x="10541000" y="8674989"/>
                  </a:lnTo>
                  <a:cubicBezTo>
                    <a:pt x="10541000" y="8796528"/>
                    <a:pt x="10442448" y="8895080"/>
                    <a:pt x="10320909" y="8895080"/>
                  </a:cubicBezTo>
                  <a:lnTo>
                    <a:pt x="220091" y="8895080"/>
                  </a:lnTo>
                  <a:cubicBezTo>
                    <a:pt x="98552" y="8895080"/>
                    <a:pt x="0" y="8796528"/>
                    <a:pt x="0" y="8674989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669780" y="2811780"/>
            <a:ext cx="1234440" cy="1234440"/>
            <a:chOff x="0" y="0"/>
            <a:chExt cx="1645920" cy="16459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861232" y="3003233"/>
            <a:ext cx="851535" cy="851535"/>
            <a:chOff x="0" y="0"/>
            <a:chExt cx="1135380" cy="11353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35380" cy="1135380"/>
            </a:xfrm>
            <a:custGeom>
              <a:avLst/>
              <a:gdLst/>
              <a:ahLst/>
              <a:cxnLst/>
              <a:rect l="l" t="t" r="r" b="b"/>
              <a:pathLst>
                <a:path w="1135380" h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73030" y="3215030"/>
            <a:ext cx="427939" cy="427939"/>
            <a:chOff x="0" y="0"/>
            <a:chExt cx="570586" cy="570586"/>
          </a:xfrm>
        </p:grpSpPr>
        <p:sp>
          <p:nvSpPr>
            <p:cNvPr id="45" name="Freeform 45" descr="/home/claude/work/icons/rocket.png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4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904220" y="3044952"/>
            <a:ext cx="6103620" cy="754380"/>
            <a:chOff x="0" y="0"/>
            <a:chExt cx="8138160" cy="10058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38160" cy="1005840"/>
            </a:xfrm>
            <a:custGeom>
              <a:avLst/>
              <a:gdLst/>
              <a:ahLst/>
              <a:cxnLst/>
              <a:rect l="l" t="t" r="r" b="b"/>
              <a:pathLst>
                <a:path w="8138160" h="1005840">
                  <a:moveTo>
                    <a:pt x="0" y="0"/>
                  </a:moveTo>
                  <a:lnTo>
                    <a:pt x="8138160" y="0"/>
                  </a:lnTo>
                  <a:lnTo>
                    <a:pt x="8138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651" b="-1076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813816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Future Scope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944100" y="4306824"/>
            <a:ext cx="123444" cy="123444"/>
            <a:chOff x="0" y="0"/>
            <a:chExt cx="164592" cy="16459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378440" y="4109847"/>
            <a:ext cx="633222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Role-based login for customers and restaurants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9944100" y="5294376"/>
            <a:ext cx="123444" cy="123444"/>
            <a:chOff x="0" y="0"/>
            <a:chExt cx="164592" cy="16459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0378440" y="5097399"/>
            <a:ext cx="633222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Driver mobile app with live GPS tracking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944100" y="6281928"/>
            <a:ext cx="123444" cy="123444"/>
            <a:chOff x="0" y="0"/>
            <a:chExt cx="164592" cy="16459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0378440" y="6084951"/>
            <a:ext cx="633222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Real payment gateway integration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9944100" y="7269480"/>
            <a:ext cx="123444" cy="123444"/>
            <a:chOff x="0" y="0"/>
            <a:chExt cx="164592" cy="16459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0378440" y="7072503"/>
            <a:ext cx="633222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AI-based menu recommendation engine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9944100" y="8257032"/>
            <a:ext cx="123444" cy="123444"/>
            <a:chOff x="0" y="0"/>
            <a:chExt cx="164592" cy="16459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0378440" y="8060055"/>
            <a:ext cx="633222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6D9E4"/>
                </a:solidFill>
                <a:latin typeface="Montserrat"/>
                <a:ea typeface="Montserrat"/>
                <a:cs typeface="Montserrat"/>
                <a:sym typeface="Montserrat"/>
              </a:rPr>
              <a:t>Cloud deployment on managed MySQL</a:t>
            </a: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26280" y="-3977640"/>
            <a:ext cx="9326880" cy="9326880"/>
            <a:chOff x="0" y="0"/>
            <a:chExt cx="12435840" cy="12435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35840" cy="12435840"/>
            </a:xfrm>
            <a:custGeom>
              <a:avLst/>
              <a:gdLst/>
              <a:ahLst/>
              <a:cxnLst/>
              <a:rect l="l" t="t" r="r" b="b"/>
              <a:pathLst>
                <a:path w="12435840" h="12435840">
                  <a:moveTo>
                    <a:pt x="0" y="6217920"/>
                  </a:moveTo>
                  <a:cubicBezTo>
                    <a:pt x="0" y="2783840"/>
                    <a:pt x="2783840" y="0"/>
                    <a:pt x="6217920" y="0"/>
                  </a:cubicBezTo>
                  <a:cubicBezTo>
                    <a:pt x="9652000" y="0"/>
                    <a:pt x="12435840" y="2783840"/>
                    <a:pt x="12435840" y="6217920"/>
                  </a:cubicBezTo>
                  <a:cubicBezTo>
                    <a:pt x="12435840" y="9652000"/>
                    <a:pt x="9652000" y="12435840"/>
                    <a:pt x="6217920" y="12435840"/>
                  </a:cubicBezTo>
                  <a:cubicBezTo>
                    <a:pt x="2783840" y="12435840"/>
                    <a:pt x="0" y="9652000"/>
                    <a:pt x="0" y="6217920"/>
                  </a:cubicBezTo>
                  <a:close/>
                </a:path>
              </a:pathLst>
            </a:custGeom>
            <a:solidFill>
              <a:srgbClr val="C33CC6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897880" y="6720840"/>
            <a:ext cx="6583680" cy="6583680"/>
            <a:chOff x="0" y="0"/>
            <a:chExt cx="8778240" cy="8778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778240" cy="8778240"/>
            </a:xfrm>
            <a:custGeom>
              <a:avLst/>
              <a:gdLst/>
              <a:ahLst/>
              <a:cxnLst/>
              <a:rect l="l" t="t" r="r" b="b"/>
              <a:pathLst>
                <a:path w="8778240" h="8778240">
                  <a:moveTo>
                    <a:pt x="0" y="4389120"/>
                  </a:moveTo>
                  <a:cubicBezTo>
                    <a:pt x="0" y="1965071"/>
                    <a:pt x="1965071" y="0"/>
                    <a:pt x="4389120" y="0"/>
                  </a:cubicBezTo>
                  <a:cubicBezTo>
                    <a:pt x="6813169" y="0"/>
                    <a:pt x="8778240" y="1965071"/>
                    <a:pt x="8778240" y="4389120"/>
                  </a:cubicBezTo>
                  <a:cubicBezTo>
                    <a:pt x="8778240" y="6813169"/>
                    <a:pt x="6813169" y="8778240"/>
                    <a:pt x="4389120" y="8778240"/>
                  </a:cubicBezTo>
                  <a:cubicBezTo>
                    <a:pt x="1965072" y="8778240"/>
                    <a:pt x="0" y="6813169"/>
                    <a:pt x="0" y="4389120"/>
                  </a:cubicBezTo>
                  <a:close/>
                </a:path>
              </a:pathLst>
            </a:custGeom>
            <a:solidFill>
              <a:srgbClr val="5700D8">
                <a:alpha val="117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685800"/>
            <a:ext cx="6858000" cy="480060"/>
            <a:chOff x="0" y="0"/>
            <a:chExt cx="914400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1440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SUMMARY OF PROJECT OUTCOMES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1124712"/>
            <a:ext cx="16322040" cy="960120"/>
            <a:chOff x="0" y="0"/>
            <a:chExt cx="2176272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62720" cy="1280160"/>
            </a:xfrm>
            <a:custGeom>
              <a:avLst/>
              <a:gdLst/>
              <a:ahLst/>
              <a:cxnLst/>
              <a:rect l="l" t="t" r="r" b="b"/>
              <a:pathLst>
                <a:path w="21762720" h="128016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1762720" cy="1270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Conclusion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0595" y="2665095"/>
            <a:ext cx="8042910" cy="1322070"/>
            <a:chOff x="0" y="0"/>
            <a:chExt cx="10723880" cy="1762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10501249" y="0"/>
                  </a:lnTo>
                  <a:cubicBezTo>
                    <a:pt x="10624185" y="0"/>
                    <a:pt x="10723880" y="99695"/>
                    <a:pt x="10723880" y="222631"/>
                  </a:cubicBezTo>
                  <a:lnTo>
                    <a:pt x="10723880" y="1540129"/>
                  </a:lnTo>
                  <a:cubicBezTo>
                    <a:pt x="10723880" y="1663065"/>
                    <a:pt x="10624185" y="1762760"/>
                    <a:pt x="1050124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7295" y="2760345"/>
            <a:ext cx="1131570" cy="1131570"/>
            <a:chOff x="0" y="0"/>
            <a:chExt cx="1508760" cy="15087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08760" cy="1508760"/>
            </a:xfrm>
            <a:custGeom>
              <a:avLst/>
              <a:gdLst/>
              <a:ahLst/>
              <a:cxnLst/>
              <a:rect l="l" t="t" r="r" b="b"/>
              <a:pathLst>
                <a:path w="1508760" h="1508760">
                  <a:moveTo>
                    <a:pt x="0" y="754380"/>
                  </a:moveTo>
                  <a:cubicBezTo>
                    <a:pt x="0" y="337693"/>
                    <a:pt x="337693" y="0"/>
                    <a:pt x="754380" y="0"/>
                  </a:cubicBezTo>
                  <a:cubicBezTo>
                    <a:pt x="1171067" y="0"/>
                    <a:pt x="1508760" y="337693"/>
                    <a:pt x="1508760" y="754380"/>
                  </a:cubicBezTo>
                  <a:cubicBezTo>
                    <a:pt x="1508760" y="1171067"/>
                    <a:pt x="1171067" y="1508760"/>
                    <a:pt x="754380" y="1508760"/>
                  </a:cubicBezTo>
                  <a:cubicBezTo>
                    <a:pt x="337693" y="1508760"/>
                    <a:pt x="0" y="1171067"/>
                    <a:pt x="0" y="7543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91602" y="2934652"/>
            <a:ext cx="782955" cy="782955"/>
            <a:chOff x="0" y="0"/>
            <a:chExt cx="1043940" cy="10439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3940" cy="1043940"/>
            </a:xfrm>
            <a:custGeom>
              <a:avLst/>
              <a:gdLst/>
              <a:ahLst/>
              <a:cxnLst/>
              <a:rect l="l" t="t" r="r" b="b"/>
              <a:pathLst>
                <a:path w="1043940" h="1043940">
                  <a:moveTo>
                    <a:pt x="0" y="521970"/>
                  </a:moveTo>
                  <a:cubicBezTo>
                    <a:pt x="0" y="233680"/>
                    <a:pt x="233680" y="0"/>
                    <a:pt x="521970" y="0"/>
                  </a:cubicBezTo>
                  <a:cubicBezTo>
                    <a:pt x="810260" y="0"/>
                    <a:pt x="1043940" y="233680"/>
                    <a:pt x="1043940" y="521970"/>
                  </a:cubicBezTo>
                  <a:cubicBezTo>
                    <a:pt x="1043940" y="810260"/>
                    <a:pt x="810260" y="1043940"/>
                    <a:pt x="521970" y="1043940"/>
                  </a:cubicBezTo>
                  <a:cubicBezTo>
                    <a:pt x="233680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86941" y="3129991"/>
            <a:ext cx="392278" cy="392278"/>
            <a:chOff x="0" y="0"/>
            <a:chExt cx="523037" cy="523037"/>
          </a:xfrm>
        </p:grpSpPr>
        <p:sp>
          <p:nvSpPr>
            <p:cNvPr id="19" name="Freeform 19" descr="/home/claude/work/icons/checkcircle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00300" y="2674620"/>
            <a:ext cx="6240780" cy="1303020"/>
            <a:chOff x="0" y="0"/>
            <a:chExt cx="8321040" cy="1737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321040" cy="1737360"/>
            </a:xfrm>
            <a:custGeom>
              <a:avLst/>
              <a:gdLst/>
              <a:ahLst/>
              <a:cxnLst/>
              <a:rect l="l" t="t" r="r" b="b"/>
              <a:pathLst>
                <a:path w="8321040" h="1737360">
                  <a:moveTo>
                    <a:pt x="0" y="0"/>
                  </a:moveTo>
                  <a:lnTo>
                    <a:pt x="8321040" y="0"/>
                  </a:lnTo>
                  <a:lnTo>
                    <a:pt x="8321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23" b="-433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8321040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Eleven-table schema models a full delivery lifecycle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85935" y="2665095"/>
            <a:ext cx="8042910" cy="1322070"/>
            <a:chOff x="0" y="0"/>
            <a:chExt cx="10723880" cy="17627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10501249" y="0"/>
                  </a:lnTo>
                  <a:cubicBezTo>
                    <a:pt x="10624185" y="0"/>
                    <a:pt x="10723880" y="99695"/>
                    <a:pt x="10723880" y="222631"/>
                  </a:cubicBezTo>
                  <a:lnTo>
                    <a:pt x="10723880" y="1540129"/>
                  </a:lnTo>
                  <a:cubicBezTo>
                    <a:pt x="10723880" y="1663065"/>
                    <a:pt x="10624185" y="1762760"/>
                    <a:pt x="1050124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52635" y="2760345"/>
            <a:ext cx="1131570" cy="1131570"/>
            <a:chOff x="0" y="0"/>
            <a:chExt cx="1508760" cy="15087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08760" cy="1508760"/>
            </a:xfrm>
            <a:custGeom>
              <a:avLst/>
              <a:gdLst/>
              <a:ahLst/>
              <a:cxnLst/>
              <a:rect l="l" t="t" r="r" b="b"/>
              <a:pathLst>
                <a:path w="1508760" h="1508760">
                  <a:moveTo>
                    <a:pt x="0" y="754380"/>
                  </a:moveTo>
                  <a:cubicBezTo>
                    <a:pt x="0" y="337693"/>
                    <a:pt x="337693" y="0"/>
                    <a:pt x="754380" y="0"/>
                  </a:cubicBezTo>
                  <a:cubicBezTo>
                    <a:pt x="1171067" y="0"/>
                    <a:pt x="1508760" y="337693"/>
                    <a:pt x="1508760" y="754380"/>
                  </a:cubicBezTo>
                  <a:cubicBezTo>
                    <a:pt x="1508760" y="1171067"/>
                    <a:pt x="1171067" y="1508760"/>
                    <a:pt x="754380" y="1508760"/>
                  </a:cubicBezTo>
                  <a:cubicBezTo>
                    <a:pt x="337693" y="1508760"/>
                    <a:pt x="0" y="1171067"/>
                    <a:pt x="0" y="7543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26943" y="2934652"/>
            <a:ext cx="782955" cy="782955"/>
            <a:chOff x="0" y="0"/>
            <a:chExt cx="1043940" cy="10439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3940" cy="1043940"/>
            </a:xfrm>
            <a:custGeom>
              <a:avLst/>
              <a:gdLst/>
              <a:ahLst/>
              <a:cxnLst/>
              <a:rect l="l" t="t" r="r" b="b"/>
              <a:pathLst>
                <a:path w="1043940" h="1043940">
                  <a:moveTo>
                    <a:pt x="0" y="521970"/>
                  </a:moveTo>
                  <a:cubicBezTo>
                    <a:pt x="0" y="233680"/>
                    <a:pt x="233680" y="0"/>
                    <a:pt x="521970" y="0"/>
                  </a:cubicBezTo>
                  <a:cubicBezTo>
                    <a:pt x="810260" y="0"/>
                    <a:pt x="1043940" y="233680"/>
                    <a:pt x="1043940" y="521970"/>
                  </a:cubicBezTo>
                  <a:cubicBezTo>
                    <a:pt x="1043940" y="810260"/>
                    <a:pt x="810260" y="1043940"/>
                    <a:pt x="521970" y="1043940"/>
                  </a:cubicBezTo>
                  <a:cubicBezTo>
                    <a:pt x="233680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022281" y="3129991"/>
            <a:ext cx="392278" cy="392278"/>
            <a:chOff x="0" y="0"/>
            <a:chExt cx="523037" cy="523037"/>
          </a:xfrm>
        </p:grpSpPr>
        <p:sp>
          <p:nvSpPr>
            <p:cNvPr id="30" name="Freeform 30" descr="/home/claude/work/icons/checkcircle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835640" y="2674620"/>
            <a:ext cx="6240780" cy="1303020"/>
            <a:chOff x="0" y="0"/>
            <a:chExt cx="8321040" cy="17373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321040" cy="1737360"/>
            </a:xfrm>
            <a:custGeom>
              <a:avLst/>
              <a:gdLst/>
              <a:ahLst/>
              <a:cxnLst/>
              <a:rect l="l" t="t" r="r" b="b"/>
              <a:pathLst>
                <a:path w="8321040" h="1737360">
                  <a:moveTo>
                    <a:pt x="0" y="0"/>
                  </a:moveTo>
                  <a:lnTo>
                    <a:pt x="8321040" y="0"/>
                  </a:lnTo>
                  <a:lnTo>
                    <a:pt x="8321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23" b="-433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8321040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CHECK constraints and foreign keys enforce integrity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0595" y="4269867"/>
            <a:ext cx="8042910" cy="1322070"/>
            <a:chOff x="0" y="0"/>
            <a:chExt cx="10723880" cy="17627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10501249" y="0"/>
                  </a:lnTo>
                  <a:cubicBezTo>
                    <a:pt x="10624185" y="0"/>
                    <a:pt x="10723880" y="99695"/>
                    <a:pt x="10723880" y="222631"/>
                  </a:cubicBezTo>
                  <a:lnTo>
                    <a:pt x="10723880" y="1540129"/>
                  </a:lnTo>
                  <a:cubicBezTo>
                    <a:pt x="10723880" y="1663065"/>
                    <a:pt x="10624185" y="1762760"/>
                    <a:pt x="1050124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7295" y="4365117"/>
            <a:ext cx="1131570" cy="1131570"/>
            <a:chOff x="0" y="0"/>
            <a:chExt cx="1508760" cy="15087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08760" cy="1508760"/>
            </a:xfrm>
            <a:custGeom>
              <a:avLst/>
              <a:gdLst/>
              <a:ahLst/>
              <a:cxnLst/>
              <a:rect l="l" t="t" r="r" b="b"/>
              <a:pathLst>
                <a:path w="1508760" h="1508760">
                  <a:moveTo>
                    <a:pt x="0" y="754380"/>
                  </a:moveTo>
                  <a:cubicBezTo>
                    <a:pt x="0" y="337693"/>
                    <a:pt x="337693" y="0"/>
                    <a:pt x="754380" y="0"/>
                  </a:cubicBezTo>
                  <a:cubicBezTo>
                    <a:pt x="1171067" y="0"/>
                    <a:pt x="1508760" y="337693"/>
                    <a:pt x="1508760" y="754380"/>
                  </a:cubicBezTo>
                  <a:cubicBezTo>
                    <a:pt x="1508760" y="1171067"/>
                    <a:pt x="1171067" y="1508760"/>
                    <a:pt x="754380" y="1508760"/>
                  </a:cubicBezTo>
                  <a:cubicBezTo>
                    <a:pt x="337693" y="1508760"/>
                    <a:pt x="0" y="1171067"/>
                    <a:pt x="0" y="7543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91602" y="4539424"/>
            <a:ext cx="782955" cy="782955"/>
            <a:chOff x="0" y="0"/>
            <a:chExt cx="1043940" cy="10439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43940" cy="1043940"/>
            </a:xfrm>
            <a:custGeom>
              <a:avLst/>
              <a:gdLst/>
              <a:ahLst/>
              <a:cxnLst/>
              <a:rect l="l" t="t" r="r" b="b"/>
              <a:pathLst>
                <a:path w="1043940" h="1043940">
                  <a:moveTo>
                    <a:pt x="0" y="521970"/>
                  </a:moveTo>
                  <a:cubicBezTo>
                    <a:pt x="0" y="233680"/>
                    <a:pt x="233680" y="0"/>
                    <a:pt x="521970" y="0"/>
                  </a:cubicBezTo>
                  <a:cubicBezTo>
                    <a:pt x="810260" y="0"/>
                    <a:pt x="1043940" y="233680"/>
                    <a:pt x="1043940" y="521970"/>
                  </a:cubicBezTo>
                  <a:cubicBezTo>
                    <a:pt x="1043940" y="810260"/>
                    <a:pt x="810260" y="1043940"/>
                    <a:pt x="521970" y="1043940"/>
                  </a:cubicBezTo>
                  <a:cubicBezTo>
                    <a:pt x="233680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86941" y="4734763"/>
            <a:ext cx="392278" cy="392278"/>
            <a:chOff x="0" y="0"/>
            <a:chExt cx="523037" cy="523037"/>
          </a:xfrm>
        </p:grpSpPr>
        <p:sp>
          <p:nvSpPr>
            <p:cNvPr id="41" name="Freeform 41" descr="/home/claude/work/icons/checkcircle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400300" y="4279392"/>
            <a:ext cx="6240780" cy="1303020"/>
            <a:chOff x="0" y="0"/>
            <a:chExt cx="8321040" cy="17373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321040" cy="1737360"/>
            </a:xfrm>
            <a:custGeom>
              <a:avLst/>
              <a:gdLst/>
              <a:ahLst/>
              <a:cxnLst/>
              <a:rect l="l" t="t" r="r" b="b"/>
              <a:pathLst>
                <a:path w="8321040" h="1737360">
                  <a:moveTo>
                    <a:pt x="0" y="0"/>
                  </a:moveTo>
                  <a:lnTo>
                    <a:pt x="8321040" y="0"/>
                  </a:lnTo>
                  <a:lnTo>
                    <a:pt x="8321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23" b="-433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8321040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Two chained triggers automate rating updates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385935" y="4269867"/>
            <a:ext cx="8042910" cy="1322070"/>
            <a:chOff x="0" y="0"/>
            <a:chExt cx="10723880" cy="17627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10501249" y="0"/>
                  </a:lnTo>
                  <a:cubicBezTo>
                    <a:pt x="10624185" y="0"/>
                    <a:pt x="10723880" y="99695"/>
                    <a:pt x="10723880" y="222631"/>
                  </a:cubicBezTo>
                  <a:lnTo>
                    <a:pt x="10723880" y="1540129"/>
                  </a:lnTo>
                  <a:cubicBezTo>
                    <a:pt x="10723880" y="1663065"/>
                    <a:pt x="10624185" y="1762760"/>
                    <a:pt x="1050124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52635" y="4365117"/>
            <a:ext cx="1131570" cy="1131570"/>
            <a:chOff x="0" y="0"/>
            <a:chExt cx="1508760" cy="15087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508760" cy="1508760"/>
            </a:xfrm>
            <a:custGeom>
              <a:avLst/>
              <a:gdLst/>
              <a:ahLst/>
              <a:cxnLst/>
              <a:rect l="l" t="t" r="r" b="b"/>
              <a:pathLst>
                <a:path w="1508760" h="1508760">
                  <a:moveTo>
                    <a:pt x="0" y="754380"/>
                  </a:moveTo>
                  <a:cubicBezTo>
                    <a:pt x="0" y="337693"/>
                    <a:pt x="337693" y="0"/>
                    <a:pt x="754380" y="0"/>
                  </a:cubicBezTo>
                  <a:cubicBezTo>
                    <a:pt x="1171067" y="0"/>
                    <a:pt x="1508760" y="337693"/>
                    <a:pt x="1508760" y="754380"/>
                  </a:cubicBezTo>
                  <a:cubicBezTo>
                    <a:pt x="1508760" y="1171067"/>
                    <a:pt x="1171067" y="1508760"/>
                    <a:pt x="754380" y="1508760"/>
                  </a:cubicBezTo>
                  <a:cubicBezTo>
                    <a:pt x="337693" y="1508760"/>
                    <a:pt x="0" y="1171067"/>
                    <a:pt x="0" y="7543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826943" y="4539424"/>
            <a:ext cx="782955" cy="782955"/>
            <a:chOff x="0" y="0"/>
            <a:chExt cx="1043940" cy="10439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43940" cy="1043940"/>
            </a:xfrm>
            <a:custGeom>
              <a:avLst/>
              <a:gdLst/>
              <a:ahLst/>
              <a:cxnLst/>
              <a:rect l="l" t="t" r="r" b="b"/>
              <a:pathLst>
                <a:path w="1043940" h="1043940">
                  <a:moveTo>
                    <a:pt x="0" y="521970"/>
                  </a:moveTo>
                  <a:cubicBezTo>
                    <a:pt x="0" y="233680"/>
                    <a:pt x="233680" y="0"/>
                    <a:pt x="521970" y="0"/>
                  </a:cubicBezTo>
                  <a:cubicBezTo>
                    <a:pt x="810260" y="0"/>
                    <a:pt x="1043940" y="233680"/>
                    <a:pt x="1043940" y="521970"/>
                  </a:cubicBezTo>
                  <a:cubicBezTo>
                    <a:pt x="1043940" y="810260"/>
                    <a:pt x="810260" y="1043940"/>
                    <a:pt x="521970" y="1043940"/>
                  </a:cubicBezTo>
                  <a:cubicBezTo>
                    <a:pt x="233680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22281" y="4734763"/>
            <a:ext cx="392278" cy="392278"/>
            <a:chOff x="0" y="0"/>
            <a:chExt cx="523037" cy="523037"/>
          </a:xfrm>
        </p:grpSpPr>
        <p:sp>
          <p:nvSpPr>
            <p:cNvPr id="52" name="Freeform 52" descr="/home/claude/work/icons/checkcircle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835640" y="4279392"/>
            <a:ext cx="6240780" cy="1303020"/>
            <a:chOff x="0" y="0"/>
            <a:chExt cx="8321040" cy="17373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321040" cy="1737360"/>
            </a:xfrm>
            <a:custGeom>
              <a:avLst/>
              <a:gdLst/>
              <a:ahLst/>
              <a:cxnLst/>
              <a:rect l="l" t="t" r="r" b="b"/>
              <a:pathLst>
                <a:path w="8321040" h="1737360">
                  <a:moveTo>
                    <a:pt x="0" y="0"/>
                  </a:moveTo>
                  <a:lnTo>
                    <a:pt x="8321040" y="0"/>
                  </a:lnTo>
                  <a:lnTo>
                    <a:pt x="8321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23" b="-433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8321040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Three SQL Views power live reporting pages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0595" y="5874639"/>
            <a:ext cx="8042910" cy="1322070"/>
            <a:chOff x="0" y="0"/>
            <a:chExt cx="10723880" cy="176276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10501249" y="0"/>
                  </a:lnTo>
                  <a:cubicBezTo>
                    <a:pt x="10624185" y="0"/>
                    <a:pt x="10723880" y="99695"/>
                    <a:pt x="10723880" y="222631"/>
                  </a:cubicBezTo>
                  <a:lnTo>
                    <a:pt x="10723880" y="1540129"/>
                  </a:lnTo>
                  <a:cubicBezTo>
                    <a:pt x="10723880" y="1663065"/>
                    <a:pt x="10624185" y="1762760"/>
                    <a:pt x="1050124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17295" y="5969889"/>
            <a:ext cx="1131570" cy="1131570"/>
            <a:chOff x="0" y="0"/>
            <a:chExt cx="1508760" cy="150876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508760" cy="1508760"/>
            </a:xfrm>
            <a:custGeom>
              <a:avLst/>
              <a:gdLst/>
              <a:ahLst/>
              <a:cxnLst/>
              <a:rect l="l" t="t" r="r" b="b"/>
              <a:pathLst>
                <a:path w="1508760" h="1508760">
                  <a:moveTo>
                    <a:pt x="0" y="754380"/>
                  </a:moveTo>
                  <a:cubicBezTo>
                    <a:pt x="0" y="337693"/>
                    <a:pt x="337693" y="0"/>
                    <a:pt x="754380" y="0"/>
                  </a:cubicBezTo>
                  <a:cubicBezTo>
                    <a:pt x="1171067" y="0"/>
                    <a:pt x="1508760" y="337693"/>
                    <a:pt x="1508760" y="754380"/>
                  </a:cubicBezTo>
                  <a:cubicBezTo>
                    <a:pt x="1508760" y="1171067"/>
                    <a:pt x="1171067" y="1508760"/>
                    <a:pt x="754380" y="1508760"/>
                  </a:cubicBezTo>
                  <a:cubicBezTo>
                    <a:pt x="337693" y="1508760"/>
                    <a:pt x="0" y="1171067"/>
                    <a:pt x="0" y="7543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91602" y="6144196"/>
            <a:ext cx="782955" cy="782955"/>
            <a:chOff x="0" y="0"/>
            <a:chExt cx="1043940" cy="104394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43940" cy="1043940"/>
            </a:xfrm>
            <a:custGeom>
              <a:avLst/>
              <a:gdLst/>
              <a:ahLst/>
              <a:cxnLst/>
              <a:rect l="l" t="t" r="r" b="b"/>
              <a:pathLst>
                <a:path w="1043940" h="1043940">
                  <a:moveTo>
                    <a:pt x="0" y="521970"/>
                  </a:moveTo>
                  <a:cubicBezTo>
                    <a:pt x="0" y="233680"/>
                    <a:pt x="233680" y="0"/>
                    <a:pt x="521970" y="0"/>
                  </a:cubicBezTo>
                  <a:cubicBezTo>
                    <a:pt x="810260" y="0"/>
                    <a:pt x="1043940" y="233680"/>
                    <a:pt x="1043940" y="521970"/>
                  </a:cubicBezTo>
                  <a:cubicBezTo>
                    <a:pt x="1043940" y="810260"/>
                    <a:pt x="810260" y="1043940"/>
                    <a:pt x="521970" y="1043940"/>
                  </a:cubicBezTo>
                  <a:cubicBezTo>
                    <a:pt x="233680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586941" y="6339535"/>
            <a:ext cx="392278" cy="392278"/>
            <a:chOff x="0" y="0"/>
            <a:chExt cx="523037" cy="523037"/>
          </a:xfrm>
        </p:grpSpPr>
        <p:sp>
          <p:nvSpPr>
            <p:cNvPr id="63" name="Freeform 63" descr="/home/claude/work/icons/checkcircle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2400300" y="5884164"/>
            <a:ext cx="6240780" cy="1303020"/>
            <a:chOff x="0" y="0"/>
            <a:chExt cx="8321040" cy="17373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321040" cy="1737360"/>
            </a:xfrm>
            <a:custGeom>
              <a:avLst/>
              <a:gdLst/>
              <a:ahLst/>
              <a:cxnLst/>
              <a:rect l="l" t="t" r="r" b="b"/>
              <a:pathLst>
                <a:path w="8321040" h="1737360">
                  <a:moveTo>
                    <a:pt x="0" y="0"/>
                  </a:moveTo>
                  <a:lnTo>
                    <a:pt x="8321040" y="0"/>
                  </a:lnTo>
                  <a:lnTo>
                    <a:pt x="8321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23" b="-433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8321040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Streamlit dashboard delivers real-time business intelligence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385935" y="5874639"/>
            <a:ext cx="8042910" cy="1322070"/>
            <a:chOff x="0" y="0"/>
            <a:chExt cx="10723880" cy="176276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10501249" y="0"/>
                  </a:lnTo>
                  <a:cubicBezTo>
                    <a:pt x="10624185" y="0"/>
                    <a:pt x="10723880" y="99695"/>
                    <a:pt x="10723880" y="222631"/>
                  </a:cubicBezTo>
                  <a:lnTo>
                    <a:pt x="10723880" y="1540129"/>
                  </a:lnTo>
                  <a:cubicBezTo>
                    <a:pt x="10723880" y="1663065"/>
                    <a:pt x="10624185" y="1762760"/>
                    <a:pt x="10501249" y="1762760"/>
                  </a:cubicBezTo>
                  <a:lnTo>
                    <a:pt x="222631" y="1762760"/>
                  </a:lnTo>
                  <a:cubicBezTo>
                    <a:pt x="99695" y="1762760"/>
                    <a:pt x="0" y="1663065"/>
                    <a:pt x="0" y="1540129"/>
                  </a:cubicBezTo>
                  <a:close/>
                </a:path>
              </a:pathLst>
            </a:custGeom>
            <a:solidFill>
              <a:srgbClr val="0E0B16"/>
            </a:solidFill>
            <a:ln w="19050" cap="sq">
              <a:solidFill>
                <a:srgbClr val="2A214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652635" y="5969889"/>
            <a:ext cx="1131570" cy="1131570"/>
            <a:chOff x="0" y="0"/>
            <a:chExt cx="1508760" cy="15087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508760" cy="1508760"/>
            </a:xfrm>
            <a:custGeom>
              <a:avLst/>
              <a:gdLst/>
              <a:ahLst/>
              <a:cxnLst/>
              <a:rect l="l" t="t" r="r" b="b"/>
              <a:pathLst>
                <a:path w="1508760" h="1508760">
                  <a:moveTo>
                    <a:pt x="0" y="754380"/>
                  </a:moveTo>
                  <a:cubicBezTo>
                    <a:pt x="0" y="337693"/>
                    <a:pt x="337693" y="0"/>
                    <a:pt x="754380" y="0"/>
                  </a:cubicBezTo>
                  <a:cubicBezTo>
                    <a:pt x="1171067" y="0"/>
                    <a:pt x="1508760" y="337693"/>
                    <a:pt x="1508760" y="754380"/>
                  </a:cubicBezTo>
                  <a:cubicBezTo>
                    <a:pt x="1508760" y="1171067"/>
                    <a:pt x="1171067" y="1508760"/>
                    <a:pt x="754380" y="1508760"/>
                  </a:cubicBezTo>
                  <a:cubicBezTo>
                    <a:pt x="337693" y="1508760"/>
                    <a:pt x="0" y="1171067"/>
                    <a:pt x="0" y="75438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826943" y="6144196"/>
            <a:ext cx="782955" cy="782955"/>
            <a:chOff x="0" y="0"/>
            <a:chExt cx="1043940" cy="10439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043940" cy="1043940"/>
            </a:xfrm>
            <a:custGeom>
              <a:avLst/>
              <a:gdLst/>
              <a:ahLst/>
              <a:cxnLst/>
              <a:rect l="l" t="t" r="r" b="b"/>
              <a:pathLst>
                <a:path w="1043940" h="1043940">
                  <a:moveTo>
                    <a:pt x="0" y="521970"/>
                  </a:moveTo>
                  <a:cubicBezTo>
                    <a:pt x="0" y="233680"/>
                    <a:pt x="233680" y="0"/>
                    <a:pt x="521970" y="0"/>
                  </a:cubicBezTo>
                  <a:cubicBezTo>
                    <a:pt x="810260" y="0"/>
                    <a:pt x="1043940" y="233680"/>
                    <a:pt x="1043940" y="521970"/>
                  </a:cubicBezTo>
                  <a:cubicBezTo>
                    <a:pt x="1043940" y="810260"/>
                    <a:pt x="810260" y="1043940"/>
                    <a:pt x="521970" y="1043940"/>
                  </a:cubicBezTo>
                  <a:cubicBezTo>
                    <a:pt x="233680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022281" y="6339535"/>
            <a:ext cx="392278" cy="392278"/>
            <a:chOff x="0" y="0"/>
            <a:chExt cx="523037" cy="523037"/>
          </a:xfrm>
        </p:grpSpPr>
        <p:sp>
          <p:nvSpPr>
            <p:cNvPr id="74" name="Freeform 74" descr="/home/claude/work/icons/checkcircle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835640" y="5884164"/>
            <a:ext cx="6240780" cy="1303020"/>
            <a:chOff x="0" y="0"/>
            <a:chExt cx="8321040" cy="173736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321040" cy="1737360"/>
            </a:xfrm>
            <a:custGeom>
              <a:avLst/>
              <a:gdLst/>
              <a:ahLst/>
              <a:cxnLst/>
              <a:rect l="l" t="t" r="r" b="b"/>
              <a:pathLst>
                <a:path w="8321040" h="1737360">
                  <a:moveTo>
                    <a:pt x="0" y="0"/>
                  </a:moveTo>
                  <a:lnTo>
                    <a:pt x="8321040" y="0"/>
                  </a:lnTo>
                  <a:lnTo>
                    <a:pt x="8321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23" b="-433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8321040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SQLite-to-MySQL migration adds real engineering depth</a:t>
              </a:r>
            </a:p>
          </p:txBody>
        </p:sp>
      </p:grpSp>
      <p:pic>
        <p:nvPicPr>
          <p:cNvPr id="78" name="Picture 7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77640" y="-137160"/>
            <a:ext cx="10424160" cy="10424160"/>
            <a:chOff x="0" y="0"/>
            <a:chExt cx="13898880" cy="13898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98880" cy="13898880"/>
            </a:xfrm>
            <a:custGeom>
              <a:avLst/>
              <a:gdLst/>
              <a:ahLst/>
              <a:cxnLst/>
              <a:rect l="l" t="t" r="r" b="b"/>
              <a:pathLst>
                <a:path w="13898880" h="13898880">
                  <a:moveTo>
                    <a:pt x="0" y="6949440"/>
                  </a:moveTo>
                  <a:cubicBezTo>
                    <a:pt x="0" y="3111373"/>
                    <a:pt x="3111373" y="0"/>
                    <a:pt x="6949440" y="0"/>
                  </a:cubicBezTo>
                  <a:cubicBezTo>
                    <a:pt x="10787507" y="0"/>
                    <a:pt x="13898880" y="3111373"/>
                    <a:pt x="13898880" y="6949440"/>
                  </a:cubicBezTo>
                  <a:cubicBezTo>
                    <a:pt x="13898880" y="10787507"/>
                    <a:pt x="10787507" y="13898880"/>
                    <a:pt x="6949440" y="13898880"/>
                  </a:cubicBezTo>
                  <a:cubicBezTo>
                    <a:pt x="3111373" y="13898880"/>
                    <a:pt x="0" y="10787507"/>
                    <a:pt x="0" y="6949440"/>
                  </a:cubicBezTo>
                  <a:close/>
                </a:path>
              </a:pathLst>
            </a:custGeom>
            <a:solidFill>
              <a:srgbClr val="5700D8">
                <a:alpha val="3137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897880" y="1783080"/>
            <a:ext cx="6583680" cy="6583680"/>
            <a:chOff x="0" y="0"/>
            <a:chExt cx="8778240" cy="8778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778240" cy="8778240"/>
            </a:xfrm>
            <a:custGeom>
              <a:avLst/>
              <a:gdLst/>
              <a:ahLst/>
              <a:cxnLst/>
              <a:rect l="l" t="t" r="r" b="b"/>
              <a:pathLst>
                <a:path w="8778240" h="8778240">
                  <a:moveTo>
                    <a:pt x="0" y="4389120"/>
                  </a:moveTo>
                  <a:cubicBezTo>
                    <a:pt x="0" y="1965071"/>
                    <a:pt x="1965071" y="0"/>
                    <a:pt x="4389120" y="0"/>
                  </a:cubicBezTo>
                  <a:cubicBezTo>
                    <a:pt x="6813169" y="0"/>
                    <a:pt x="8778240" y="1965071"/>
                    <a:pt x="8778240" y="4389120"/>
                  </a:cubicBezTo>
                  <a:cubicBezTo>
                    <a:pt x="8778240" y="6813169"/>
                    <a:pt x="6813169" y="8778240"/>
                    <a:pt x="4389120" y="8778240"/>
                  </a:cubicBezTo>
                  <a:cubicBezTo>
                    <a:pt x="1965072" y="8778240"/>
                    <a:pt x="0" y="6813169"/>
                    <a:pt x="0" y="4389120"/>
                  </a:cubicBezTo>
                  <a:close/>
                </a:path>
              </a:pathLst>
            </a:custGeom>
            <a:solidFill>
              <a:srgbClr val="C33CC6">
                <a:alpha val="1569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371600" y="-1371600"/>
            <a:ext cx="5486400" cy="5486400"/>
            <a:chOff x="0" y="0"/>
            <a:chExt cx="7315200" cy="7315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22D3EE">
                <a:alpha val="78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12201" y="2366010"/>
            <a:ext cx="2263140" cy="2263140"/>
            <a:chOff x="0" y="0"/>
            <a:chExt cx="3017520" cy="3017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17520" cy="3017520"/>
            </a:xfrm>
            <a:custGeom>
              <a:avLst/>
              <a:gdLst/>
              <a:ahLst/>
              <a:cxnLst/>
              <a:rect l="l" t="t" r="r" b="b"/>
              <a:pathLst>
                <a:path w="3017520" h="3017520">
                  <a:moveTo>
                    <a:pt x="0" y="1508760"/>
                  </a:moveTo>
                  <a:cubicBezTo>
                    <a:pt x="0" y="675513"/>
                    <a:pt x="675513" y="0"/>
                    <a:pt x="1508760" y="0"/>
                  </a:cubicBezTo>
                  <a:cubicBezTo>
                    <a:pt x="2342007" y="0"/>
                    <a:pt x="3017520" y="675513"/>
                    <a:pt x="3017520" y="1508760"/>
                  </a:cubicBezTo>
                  <a:cubicBezTo>
                    <a:pt x="3017520" y="2342007"/>
                    <a:pt x="2342007" y="3017520"/>
                    <a:pt x="1508760" y="3017520"/>
                  </a:cubicBezTo>
                  <a:cubicBezTo>
                    <a:pt x="675513" y="3017520"/>
                    <a:pt x="0" y="2342007"/>
                    <a:pt x="0" y="1508760"/>
                  </a:cubicBezTo>
                  <a:close/>
                </a:path>
              </a:pathLst>
            </a:custGeom>
            <a:solidFill>
              <a:srgbClr val="22D3EE">
                <a:alpha val="2353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75104" y="2728912"/>
            <a:ext cx="1537335" cy="1537335"/>
            <a:chOff x="0" y="0"/>
            <a:chExt cx="2049780" cy="20497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49780" cy="2049780"/>
            </a:xfrm>
            <a:custGeom>
              <a:avLst/>
              <a:gdLst/>
              <a:ahLst/>
              <a:cxnLst/>
              <a:rect l="l" t="t" r="r" b="b"/>
              <a:pathLst>
                <a:path w="2049780" h="2049780">
                  <a:moveTo>
                    <a:pt x="0" y="1024890"/>
                  </a:moveTo>
                  <a:cubicBezTo>
                    <a:pt x="0" y="458851"/>
                    <a:pt x="458851" y="0"/>
                    <a:pt x="1024890" y="0"/>
                  </a:cubicBezTo>
                  <a:cubicBezTo>
                    <a:pt x="1590929" y="0"/>
                    <a:pt x="2049780" y="458851"/>
                    <a:pt x="2049780" y="1024890"/>
                  </a:cubicBezTo>
                  <a:cubicBezTo>
                    <a:pt x="2049780" y="1590929"/>
                    <a:pt x="1590929" y="2049780"/>
                    <a:pt x="1024890" y="2049780"/>
                  </a:cubicBezTo>
                  <a:cubicBezTo>
                    <a:pt x="458851" y="2049780"/>
                    <a:pt x="0" y="1590929"/>
                    <a:pt x="0" y="1024890"/>
                  </a:cubicBezTo>
                  <a:close/>
                </a:path>
              </a:pathLst>
            </a:custGeom>
            <a:solidFill>
              <a:srgbClr val="160F26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51494" y="3105302"/>
            <a:ext cx="784555" cy="784555"/>
            <a:chOff x="0" y="0"/>
            <a:chExt cx="1046074" cy="1046074"/>
          </a:xfrm>
        </p:grpSpPr>
        <p:sp>
          <p:nvSpPr>
            <p:cNvPr id="13" name="Freeform 13" descr="/home/claude/work/icons/graduationcap.png"/>
            <p:cNvSpPr/>
            <p:nvPr/>
          </p:nvSpPr>
          <p:spPr>
            <a:xfrm>
              <a:off x="0" y="0"/>
              <a:ext cx="1046099" cy="1046099"/>
            </a:xfrm>
            <a:custGeom>
              <a:avLst/>
              <a:gdLst/>
              <a:ahLst/>
              <a:cxnLst/>
              <a:rect l="l" t="t" r="r" b="b"/>
              <a:pathLst>
                <a:path w="1046099" h="1046099">
                  <a:moveTo>
                    <a:pt x="0" y="0"/>
                  </a:moveTo>
                  <a:lnTo>
                    <a:pt x="1046099" y="0"/>
                  </a:lnTo>
                  <a:lnTo>
                    <a:pt x="1046099" y="1046099"/>
                  </a:lnTo>
                  <a:lnTo>
                    <a:pt x="0" y="1046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4526280"/>
            <a:ext cx="18287543" cy="1234440"/>
            <a:chOff x="0" y="0"/>
            <a:chExt cx="24383390" cy="16459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3391" cy="1645920"/>
            </a:xfrm>
            <a:custGeom>
              <a:avLst/>
              <a:gdLst/>
              <a:ahLst/>
              <a:cxnLst/>
              <a:rect l="l" t="t" r="r" b="b"/>
              <a:pathLst>
                <a:path w="24383391" h="1645920">
                  <a:moveTo>
                    <a:pt x="0" y="0"/>
                  </a:moveTo>
                  <a:lnTo>
                    <a:pt x="24383391" y="0"/>
                  </a:lnTo>
                  <a:lnTo>
                    <a:pt x="2438339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8660" b="-23866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438339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559"/>
                </a:lnSpc>
              </a:pPr>
              <a:r>
                <a:rPr lang="en-US" sz="63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Thank You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5692140"/>
            <a:ext cx="18287543" cy="822960"/>
            <a:chOff x="0" y="0"/>
            <a:chExt cx="24383390" cy="1097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3391" cy="1097280"/>
            </a:xfrm>
            <a:custGeom>
              <a:avLst/>
              <a:gdLst/>
              <a:ahLst/>
              <a:cxnLst/>
              <a:rect l="l" t="t" r="r" b="b"/>
              <a:pathLst>
                <a:path w="24383391" h="1097280">
                  <a:moveTo>
                    <a:pt x="0" y="0"/>
                  </a:moveTo>
                  <a:lnTo>
                    <a:pt x="24383391" y="0"/>
                  </a:lnTo>
                  <a:lnTo>
                    <a:pt x="2438339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2990" b="-38299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2438339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22D3E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Questions?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0" y="6926580"/>
            <a:ext cx="18287544" cy="548640"/>
            <a:chOff x="0" y="0"/>
            <a:chExt cx="24383391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83391" cy="731520"/>
            </a:xfrm>
            <a:custGeom>
              <a:avLst/>
              <a:gdLst/>
              <a:ahLst/>
              <a:cxnLst/>
              <a:rect l="l" t="t" r="r" b="b"/>
              <a:pathLst>
                <a:path w="24383391" h="731520">
                  <a:moveTo>
                    <a:pt x="0" y="0"/>
                  </a:moveTo>
                  <a:lnTo>
                    <a:pt x="24383391" y="0"/>
                  </a:lnTo>
                  <a:lnTo>
                    <a:pt x="243833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99485" b="-5994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438339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dirty="0">
                  <a:solidFill>
                    <a:srgbClr val="D6D9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Cloud Kitchen &amp; Food Delivery Management System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7406640"/>
            <a:ext cx="18287544" cy="548640"/>
            <a:chOff x="0" y="0"/>
            <a:chExt cx="24383391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3391" cy="731520"/>
            </a:xfrm>
            <a:custGeom>
              <a:avLst/>
              <a:gdLst/>
              <a:ahLst/>
              <a:cxnLst/>
              <a:rect l="l" t="t" r="r" b="b"/>
              <a:pathLst>
                <a:path w="24383391" h="731520">
                  <a:moveTo>
                    <a:pt x="0" y="0"/>
                  </a:moveTo>
                  <a:lnTo>
                    <a:pt x="24383391" y="0"/>
                  </a:lnTo>
                  <a:lnTo>
                    <a:pt x="243833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99485" b="-5994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38339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Python  •  MySQL  •  </a:t>
              </a:r>
              <a:r>
                <a:rPr lang="en-US" sz="1800" dirty="0" err="1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Streamlit</a:t>
              </a:r>
              <a:r>
                <a:rPr lang="en-US" sz="1800" dirty="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•  </a:t>
              </a:r>
              <a:r>
                <a:rPr lang="en-US" sz="1800" dirty="0" err="1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Plotly</a:t>
              </a:r>
              <a:endParaRPr lang="en-US" sz="1800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238601"/>
            <a:ext cx="1423987" cy="1423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671</Words>
  <Application>Microsoft Office PowerPoint</Application>
  <PresentationFormat>Custom</PresentationFormat>
  <Paragraphs>185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Montserrat Bold</vt:lpstr>
      <vt:lpstr>Calibri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Cloud_Kitchen_Presentation (1).pptx</dc:title>
  <cp:lastModifiedBy>Administrator</cp:lastModifiedBy>
  <cp:revision>9</cp:revision>
  <dcterms:created xsi:type="dcterms:W3CDTF">2006-08-16T00:00:00Z</dcterms:created>
  <dcterms:modified xsi:type="dcterms:W3CDTF">2026-07-20T20:20:15Z</dcterms:modified>
  <dc:identifier>DAHP3bIj8o0</dc:identifier>
</cp:coreProperties>
</file>